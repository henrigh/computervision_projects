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8" r:id="rId4"/>
    <p:sldId id="269" r:id="rId5"/>
    <p:sldId id="270" r:id="rId6"/>
    <p:sldId id="258" r:id="rId7"/>
    <p:sldId id="257" r:id="rId8"/>
    <p:sldId id="259" r:id="rId9"/>
    <p:sldId id="261" r:id="rId10"/>
    <p:sldId id="262" r:id="rId11"/>
    <p:sldId id="263" r:id="rId12"/>
    <p:sldId id="260" r:id="rId13"/>
    <p:sldId id="265" r:id="rId14"/>
    <p:sldId id="264" r:id="rId15"/>
    <p:sldId id="266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1DE1D-DBAC-4A3C-B8C5-B5D73F0780CE}" v="385" dt="2025-05-18T19:12:27.754"/>
    <p1510:client id="{7D4DD5B1-1463-4088-9201-B81290A320B2}" v="157" dt="2025-05-19T00:57:14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Time</a:t>
            </a:r>
            <a:r>
              <a:rPr lang="en-US" baseline="0" dirty="0"/>
              <a:t> distribution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E7-4DA6-AEB1-437B9E567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30-4838-8D38-BEBA4B7F43D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30-4838-8D38-BEBA4B7F43D6}"/>
              </c:ext>
            </c:extLst>
          </c:dPt>
          <c:cat>
            <c:strRef>
              <c:f>Tabelle1!$A$2:$A$4</c:f>
              <c:strCache>
                <c:ptCount val="3"/>
                <c:pt idx="0">
                  <c:v>1. Positions</c:v>
                </c:pt>
                <c:pt idx="1">
                  <c:v>2. Heuristics</c:v>
                </c:pt>
                <c:pt idx="2">
                  <c:v>3. Others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130.96</c:v>
                </c:pt>
                <c:pt idx="1">
                  <c:v>25.27</c:v>
                </c:pt>
                <c:pt idx="2">
                  <c:v>35.369999999999997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7-4DA6-AEB1-437B9E567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Time</a:t>
            </a:r>
            <a:r>
              <a:rPr lang="en-US" baseline="0" dirty="0"/>
              <a:t> distribution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Zeitverteilung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BE7-4DA6-AEB1-437B9E5671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D0C-4A68-B788-440C13E8687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D0C-4A68-B788-440C13E86874}"/>
              </c:ext>
            </c:extLst>
          </c:dPt>
          <c:cat>
            <c:strRef>
              <c:f>Tabelle1!$A$2:$A$4</c:f>
              <c:strCache>
                <c:ptCount val="3"/>
                <c:pt idx="0">
                  <c:v>1. Positions</c:v>
                </c:pt>
                <c:pt idx="1">
                  <c:v>2. Heuristics</c:v>
                </c:pt>
                <c:pt idx="2">
                  <c:v>3. Other</c:v>
                </c:pt>
              </c:strCache>
            </c:strRef>
          </c:cat>
          <c:val>
            <c:numRef>
              <c:f>Tabelle1!$B$2:$B$4</c:f>
              <c:numCache>
                <c:formatCode>General</c:formatCode>
                <c:ptCount val="3"/>
                <c:pt idx="0">
                  <c:v>0.23</c:v>
                </c:pt>
                <c:pt idx="1">
                  <c:v>24.44</c:v>
                </c:pt>
                <c:pt idx="2">
                  <c:v>3.69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E7-4DA6-AEB1-437B9E5671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388A0B-20D7-6C8D-AEF2-FF14C9DB9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7DC683-EB0C-C688-8A7E-00BBBC0B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56D915-0219-D184-374A-E331534D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7EA389-7C18-EF98-C65C-4CCB76B09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71CC87-AE9B-D849-778B-36A319DA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8356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6C30E-71B0-39BD-730B-27E57D4C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BEF1E3-9D80-5887-3FFA-147A4B6CC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C9C0BA-AB7C-3B83-4D16-3F6746872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A977D6-4469-8987-6FA5-F535D2624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A5D9B4-01A0-4547-35B4-A7BFAC7E1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4404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D6C54-9F6A-07C5-491E-129A06E6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35EA73-DEC5-933C-1FCD-EEAE9F8CD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A9C6C6-BB3A-F04F-BA04-9F8A8910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0553AC-16A5-9FC8-9679-43842D9E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84B809-5A26-0671-3B93-A11BDA27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18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2B0787-C4B8-5811-CDD8-266E858A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157D90-AFA4-73DF-E1B3-A7DEA588D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CF623A-E986-51EA-D32B-775C1D1A3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854061-6D7D-06DF-CF9E-AD38634D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42E458-744F-403B-7B75-08653268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15EB568-833F-8C65-5923-7553F083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2130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628C35-5352-E8C9-EE74-281CE809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22405BB-7E8A-56CE-AB41-4ED58B311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C3B846-9EFC-DD7D-8059-8EC59C8F0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BA9201-077B-1D6E-C225-DDE35217D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BE1092-BCEB-B449-85A7-5A861F933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97410F2-EDB1-590A-ED6C-D3A323A41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95CF1D-1532-9B9D-E064-78A15388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027D29D-9EF1-FF01-10FC-2BC9E6AA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702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C522F-C894-4DAD-52CE-E31BAF2A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866565-6B10-642D-3907-D890C65E4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F4F810-1A8F-ABA1-86EF-0EC1653B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03B9446-911A-65AB-FA10-D002A7DE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76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A1EAA5-8D40-94E1-8513-B7960DF7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107F9E-D806-EC78-CF98-D19CF902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EA459B-56F2-FB99-FDDE-A97209E0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4124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008929-3CE7-0035-4093-BF6C587FB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8F2093-2572-9436-436A-C4CCFFB8F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05A657-3E44-6BA3-7904-3BC448E463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E0A43FA-F962-3881-2550-63A25F15A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FE246A1-4FC1-9668-CD45-60833D6F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517CDA-A255-170E-A0F6-FFC1763A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0234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23C38-B29D-4AFE-87AD-77AA3A58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7DA4612-C623-0A0E-038D-490C554F0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0BADB7-5270-ADFD-8FA0-7E1525AF0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336610-5F56-4E2C-C5B8-A24E9A6B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2A10DD6-3785-9D47-F3FE-C43C4286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616457-36A7-EBA8-1D02-9FAA395CC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801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08F26E-D617-0AE8-39F4-9F460D7E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58E5E3-BE46-25D2-A93B-DE4888C1B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72771-D62D-145B-E308-D3800D10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1B1E38-FA49-8B08-DAFE-8C20BDC9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347CB8-F9A0-8D8E-E42B-5BDAD26B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650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C3DDBA0-7AAE-7772-A497-DE91ACDAF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6147BD-519B-E2EF-AE7A-87E729DED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816FA7-37DE-ACC2-38AA-4A6FA56B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7A6312-2625-2464-60C8-BAD1C9CA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C959DFD-A7A6-DC9C-3A09-438AE6F0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2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69002B7-BE35-D0FB-3CD2-5E35F06A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1F5A81-A716-7C59-97BC-FE91C7312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3F8992-A931-0071-0BD4-0819912A2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40BBC-093D-4A3D-8D15-C9D323603E14}" type="datetimeFigureOut">
              <a:rPr lang="de-DE" smtClean="0"/>
              <a:t>19.05.2025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C38-9A98-3D48-49E6-92465A6C2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7EE6912-ABD9-C3C2-093A-6954E2913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A55A0F-2B6D-4FBA-8743-81E8F3D6DF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20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E3087D-BE1E-DB2B-B8EC-FD30AC241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de-DE" sz="5600">
                <a:solidFill>
                  <a:srgbClr val="FFFFFF"/>
                </a:solidFill>
              </a:rPr>
              <a:t>Reversi group 6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9887C7-3EE6-CB9E-F3A4-B2B689A65F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endParaRPr lang="de-DE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35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D14D-0286-2E61-69D0-D6C58D45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242520-21D5-3DAF-FC31-3C62B507E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85AD2B-B936-C2E0-24FC-465FCD9E6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de-DE" sz="5600" dirty="0" err="1">
                <a:solidFill>
                  <a:srgbClr val="FFFFFF"/>
                </a:solidFill>
              </a:rPr>
              <a:t>MiniMax</a:t>
            </a:r>
            <a:r>
              <a:rPr lang="de-DE" sz="5600" dirty="0">
                <a:solidFill>
                  <a:srgbClr val="FFFFFF"/>
                </a:solidFill>
              </a:rPr>
              <a:t> </a:t>
            </a:r>
            <a:r>
              <a:rPr lang="de-DE" sz="5600" dirty="0" err="1">
                <a:solidFill>
                  <a:srgbClr val="FFFFFF"/>
                </a:solidFill>
              </a:rPr>
              <a:t>Algorithms</a:t>
            </a:r>
            <a:endParaRPr lang="de-DE" sz="5600" dirty="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7723FAF-CF5F-5AFB-5404-AC1253060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endParaRPr lang="de-DE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B961AF5E-FF0E-B258-79A2-F533F9198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2A75742E-2D25-C831-04F5-14280CFD2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86CDAB3-7D11-079E-4F1B-9B76352E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95DF0A-EE73-0BCC-9673-2C7AB566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5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A2A5E-1F36-1EE4-371B-4CE0E2B1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Problems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E2D6C-C7FD-1650-279A-79927F63B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Disqualifications</a:t>
            </a:r>
            <a:r>
              <a:rPr lang="de-DE" dirty="0"/>
              <a:t> </a:t>
            </a:r>
            <a:r>
              <a:rPr lang="de-DE" dirty="0" err="1"/>
              <a:t>caused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timeouts</a:t>
            </a:r>
            <a:endParaRPr lang="de-DE" dirty="0"/>
          </a:p>
          <a:p>
            <a:r>
              <a:rPr lang="de-DE" dirty="0"/>
              <a:t>On 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limit</a:t>
            </a:r>
            <a:r>
              <a:rPr lang="de-DE" dirty="0"/>
              <a:t> 2</a:t>
            </a:r>
          </a:p>
          <a:p>
            <a:r>
              <a:rPr lang="de-DE" dirty="0" err="1"/>
              <a:t>Especially</a:t>
            </a:r>
            <a:r>
              <a:rPr lang="de-DE" dirty="0"/>
              <a:t> on large </a:t>
            </a:r>
            <a:r>
              <a:rPr lang="de-DE" dirty="0" err="1"/>
              <a:t>maps</a:t>
            </a:r>
            <a:endParaRPr lang="de-DE" dirty="0"/>
          </a:p>
          <a:p>
            <a:r>
              <a:rPr lang="de-DE" dirty="0"/>
              <a:t>Total time: 191,6s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B2977256-6F13-F73D-A640-E5ED12C1BF8A}"/>
              </a:ext>
            </a:extLst>
          </p:cNvPr>
          <p:cNvGraphicFramePr/>
          <p:nvPr/>
        </p:nvGraphicFramePr>
        <p:xfrm>
          <a:off x="4677229" y="68103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9FFE8423-E62F-0180-6829-79BD20C36030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18386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DF63E-2646-F60C-AFCF-B62A262D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Solution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62B3F-E7A1-18A7-5B92-ECC21547B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7" y="1690688"/>
            <a:ext cx="10515600" cy="4351338"/>
          </a:xfrm>
        </p:spPr>
        <p:txBody>
          <a:bodyPr/>
          <a:lstStyle/>
          <a:p>
            <a:r>
              <a:rPr lang="de-DE" dirty="0" err="1"/>
              <a:t>Heuristics</a:t>
            </a:r>
            <a:r>
              <a:rPr lang="de-DE" dirty="0"/>
              <a:t> </a:t>
            </a:r>
            <a:r>
              <a:rPr lang="de-DE" dirty="0" err="1"/>
              <a:t>evaluating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on </a:t>
            </a:r>
            <a:r>
              <a:rPr lang="de-DE" dirty="0" err="1"/>
              <a:t>position</a:t>
            </a:r>
            <a:endParaRPr lang="de-DE" dirty="0"/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stone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move</a:t>
            </a:r>
            <a:r>
              <a:rPr lang="de-DE" dirty="0"/>
              <a:t> </a:t>
            </a:r>
            <a:r>
              <a:rPr lang="de-DE" dirty="0" err="1"/>
              <a:t>capture</a:t>
            </a:r>
            <a:r>
              <a:rPr lang="de-DE" dirty="0"/>
              <a:t>?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AC8CC5B-2C6C-F6F6-0499-463908735712}"/>
              </a:ext>
            </a:extLst>
          </p:cNvPr>
          <p:cNvSpPr/>
          <p:nvPr/>
        </p:nvSpPr>
        <p:spPr>
          <a:xfrm>
            <a:off x="1943099" y="2741284"/>
            <a:ext cx="511629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7FA55639-573D-BE86-5F11-CB4E93824496}"/>
              </a:ext>
            </a:extLst>
          </p:cNvPr>
          <p:cNvSpPr/>
          <p:nvPr/>
        </p:nvSpPr>
        <p:spPr>
          <a:xfrm>
            <a:off x="1066799" y="3886201"/>
            <a:ext cx="511629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0ABD611-C983-F968-B6AD-10EF5D7C50AA}"/>
              </a:ext>
            </a:extLst>
          </p:cNvPr>
          <p:cNvSpPr/>
          <p:nvPr/>
        </p:nvSpPr>
        <p:spPr>
          <a:xfrm>
            <a:off x="2677884" y="3886201"/>
            <a:ext cx="511629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D35AE475-D633-EF1E-E1D0-E19D649CDD51}"/>
              </a:ext>
            </a:extLst>
          </p:cNvPr>
          <p:cNvSpPr/>
          <p:nvPr/>
        </p:nvSpPr>
        <p:spPr>
          <a:xfrm>
            <a:off x="1475011" y="5048704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3BCEC7A-2BB8-3350-E866-1BF74DC0DF11}"/>
              </a:ext>
            </a:extLst>
          </p:cNvPr>
          <p:cNvSpPr/>
          <p:nvPr/>
        </p:nvSpPr>
        <p:spPr>
          <a:xfrm>
            <a:off x="506183" y="5048704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8377CB4-AB6E-9FA6-E97A-95821ABBB19A}"/>
              </a:ext>
            </a:extLst>
          </p:cNvPr>
          <p:cNvSpPr/>
          <p:nvPr/>
        </p:nvSpPr>
        <p:spPr>
          <a:xfrm>
            <a:off x="2318657" y="5031582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3108662-637B-623A-E0BF-B40951E9DCC4}"/>
              </a:ext>
            </a:extLst>
          </p:cNvPr>
          <p:cNvSpPr/>
          <p:nvPr/>
        </p:nvSpPr>
        <p:spPr>
          <a:xfrm>
            <a:off x="3156859" y="5031582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9C3863F2-92BE-F090-8579-212704FF593C}"/>
              </a:ext>
            </a:extLst>
          </p:cNvPr>
          <p:cNvCxnSpPr>
            <a:stCxn id="4" idx="3"/>
          </p:cNvCxnSpPr>
          <p:nvPr/>
        </p:nvCxnSpPr>
        <p:spPr>
          <a:xfrm flipH="1">
            <a:off x="1295399" y="3196569"/>
            <a:ext cx="722626" cy="70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4A826EC-2A92-65C0-6963-B52C39B2EEFD}"/>
              </a:ext>
            </a:extLst>
          </p:cNvPr>
          <p:cNvCxnSpPr>
            <a:cxnSpLocks/>
            <a:stCxn id="4" idx="5"/>
          </p:cNvCxnSpPr>
          <p:nvPr/>
        </p:nvCxnSpPr>
        <p:spPr>
          <a:xfrm>
            <a:off x="2379802" y="3196569"/>
            <a:ext cx="526682" cy="70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F32B9802-FF34-0AB8-4CFF-0CAC8E35D066}"/>
              </a:ext>
            </a:extLst>
          </p:cNvPr>
          <p:cNvCxnSpPr>
            <a:stCxn id="6" idx="5"/>
            <a:endCxn id="10" idx="0"/>
          </p:cNvCxnSpPr>
          <p:nvPr/>
        </p:nvCxnSpPr>
        <p:spPr>
          <a:xfrm>
            <a:off x="3114587" y="4341486"/>
            <a:ext cx="298087" cy="690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CF8D137-7777-7E5B-8CCF-0FDB26847F91}"/>
              </a:ext>
            </a:extLst>
          </p:cNvPr>
          <p:cNvCxnSpPr>
            <a:stCxn id="6" idx="3"/>
            <a:endCxn id="9" idx="0"/>
          </p:cNvCxnSpPr>
          <p:nvPr/>
        </p:nvCxnSpPr>
        <p:spPr>
          <a:xfrm flipH="1">
            <a:off x="2574472" y="4341486"/>
            <a:ext cx="178338" cy="690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3A5A3619-57F3-9A79-D83D-B5B84D928B62}"/>
              </a:ext>
            </a:extLst>
          </p:cNvPr>
          <p:cNvCxnSpPr>
            <a:stCxn id="5" idx="5"/>
            <a:endCxn id="7" idx="0"/>
          </p:cNvCxnSpPr>
          <p:nvPr/>
        </p:nvCxnSpPr>
        <p:spPr>
          <a:xfrm>
            <a:off x="1503502" y="4341486"/>
            <a:ext cx="227324" cy="707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213C3D7-8FF3-FE55-175A-E7D11F2C8E5D}"/>
              </a:ext>
            </a:extLst>
          </p:cNvPr>
          <p:cNvCxnSpPr>
            <a:stCxn id="5" idx="3"/>
            <a:endCxn id="8" idx="0"/>
          </p:cNvCxnSpPr>
          <p:nvPr/>
        </p:nvCxnSpPr>
        <p:spPr>
          <a:xfrm flipH="1">
            <a:off x="761998" y="4341486"/>
            <a:ext cx="379727" cy="707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2D90D28D-6FBC-D0BB-C956-95D546E5C885}"/>
              </a:ext>
            </a:extLst>
          </p:cNvPr>
          <p:cNvSpPr/>
          <p:nvPr/>
        </p:nvSpPr>
        <p:spPr>
          <a:xfrm>
            <a:off x="7990113" y="2741284"/>
            <a:ext cx="511629" cy="533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A4A229E-9E91-7168-2B0E-B82818F086CB}"/>
              </a:ext>
            </a:extLst>
          </p:cNvPr>
          <p:cNvSpPr/>
          <p:nvPr/>
        </p:nvSpPr>
        <p:spPr>
          <a:xfrm>
            <a:off x="7228113" y="3886201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910E14-B283-3C38-73D2-49F7AF3282B2}"/>
              </a:ext>
            </a:extLst>
          </p:cNvPr>
          <p:cNvSpPr/>
          <p:nvPr/>
        </p:nvSpPr>
        <p:spPr>
          <a:xfrm>
            <a:off x="8779327" y="3886201"/>
            <a:ext cx="511629" cy="533400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8F7144DF-459D-43E7-C39B-09B109826649}"/>
              </a:ext>
            </a:extLst>
          </p:cNvPr>
          <p:cNvCxnSpPr/>
          <p:nvPr/>
        </p:nvCxnSpPr>
        <p:spPr>
          <a:xfrm>
            <a:off x="8375748" y="3224741"/>
            <a:ext cx="526682" cy="70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3FB5CEB-F77D-D229-B82D-2BBC4810E4E7}"/>
              </a:ext>
            </a:extLst>
          </p:cNvPr>
          <p:cNvCxnSpPr/>
          <p:nvPr/>
        </p:nvCxnSpPr>
        <p:spPr>
          <a:xfrm flipH="1">
            <a:off x="7427011" y="3176713"/>
            <a:ext cx="722626" cy="709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68EA525-3509-68B2-D327-545F20AE9718}"/>
              </a:ext>
            </a:extLst>
          </p:cNvPr>
          <p:cNvCxnSpPr/>
          <p:nvPr/>
        </p:nvCxnSpPr>
        <p:spPr>
          <a:xfrm flipH="1">
            <a:off x="6898179" y="4344838"/>
            <a:ext cx="379727" cy="707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A1BA4ED6-6FD0-DA7C-870E-9FF171806275}"/>
              </a:ext>
            </a:extLst>
          </p:cNvPr>
          <p:cNvCxnSpPr/>
          <p:nvPr/>
        </p:nvCxnSpPr>
        <p:spPr>
          <a:xfrm flipH="1">
            <a:off x="8513260" y="4373843"/>
            <a:ext cx="379727" cy="707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BD3C6766-D465-01CC-006E-19D013FCED6F}"/>
              </a:ext>
            </a:extLst>
          </p:cNvPr>
          <p:cNvCxnSpPr/>
          <p:nvPr/>
        </p:nvCxnSpPr>
        <p:spPr>
          <a:xfrm>
            <a:off x="7654099" y="4321630"/>
            <a:ext cx="298087" cy="690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1ADFCE29-3ECF-F59F-6D39-69FACAB10592}"/>
              </a:ext>
            </a:extLst>
          </p:cNvPr>
          <p:cNvCxnSpPr/>
          <p:nvPr/>
        </p:nvCxnSpPr>
        <p:spPr>
          <a:xfrm>
            <a:off x="9192984" y="4358608"/>
            <a:ext cx="298087" cy="690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1C50AE71-8A01-C986-5C71-47DB0EA3429E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0244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81D60-091C-E2AC-7FAC-70ED9671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E7DDF6-B390-57F6-0052-DD89EC36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Improved</a:t>
            </a:r>
            <a:r>
              <a:rPr lang="de-DE" dirty="0"/>
              <a:t> </a:t>
            </a:r>
            <a:r>
              <a:rPr lang="de-DE" dirty="0" err="1"/>
              <a:t>version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51724B-27E8-6A4D-5E10-AF3107C9D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e-DE" dirty="0" err="1"/>
              <a:t>Heuristics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biggest</a:t>
            </a:r>
            <a:r>
              <a:rPr lang="de-DE" dirty="0"/>
              <a:t> </a:t>
            </a:r>
            <a:r>
              <a:rPr lang="de-DE" dirty="0" err="1"/>
              <a:t>part</a:t>
            </a:r>
            <a:endParaRPr lang="de-DE" dirty="0"/>
          </a:p>
          <a:p>
            <a:r>
              <a:rPr lang="de-DE" dirty="0" err="1"/>
              <a:t>Rewrite</a:t>
            </a:r>
            <a:r>
              <a:rPr lang="de-DE" dirty="0"/>
              <a:t> </a:t>
            </a:r>
            <a:r>
              <a:rPr lang="de-DE" dirty="0" err="1"/>
              <a:t>heuristics</a:t>
            </a:r>
            <a:endParaRPr lang="de-DE" dirty="0"/>
          </a:p>
          <a:p>
            <a:r>
              <a:rPr lang="de-DE" dirty="0"/>
              <a:t>Total time: 28,1s (-85% !)</a:t>
            </a:r>
          </a:p>
          <a:p>
            <a:r>
              <a:rPr lang="de-DE" dirty="0"/>
              <a:t>Strong </a:t>
            </a:r>
            <a:r>
              <a:rPr lang="de-DE" dirty="0" err="1"/>
              <a:t>performance</a:t>
            </a:r>
            <a:r>
              <a:rPr lang="de-DE" dirty="0"/>
              <a:t> on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maps</a:t>
            </a:r>
            <a:endParaRPr lang="de-DE"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B51D55FD-3D76-015B-0EBD-248E5E41197F}"/>
              </a:ext>
            </a:extLst>
          </p:cNvPr>
          <p:cNvGraphicFramePr/>
          <p:nvPr/>
        </p:nvGraphicFramePr>
        <p:xfrm>
          <a:off x="4677229" y="681037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70C8823F-74F1-0A2D-52DF-63B6287DDD5B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0571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2F09-6A42-4EE1-2B5E-E50F8DC2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AA952F-5980-4B10-29B4-A0E04F857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590062"/>
            <a:ext cx="5409655" cy="2838938"/>
          </a:xfrm>
        </p:spPr>
        <p:txBody>
          <a:bodyPr>
            <a:normAutofit/>
          </a:bodyPr>
          <a:lstStyle/>
          <a:p>
            <a:pPr algn="l"/>
            <a:r>
              <a:rPr lang="de-DE" sz="5600">
                <a:solidFill>
                  <a:srgbClr val="FFFFFF"/>
                </a:solidFill>
              </a:rPr>
              <a:t>Measurement System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C184D30-302A-5E2D-3BBC-E4881D507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2044" y="4698614"/>
            <a:ext cx="5088650" cy="1198120"/>
          </a:xfrm>
        </p:spPr>
        <p:txBody>
          <a:bodyPr>
            <a:normAutofit/>
          </a:bodyPr>
          <a:lstStyle/>
          <a:p>
            <a:pPr algn="r"/>
            <a:endParaRPr lang="de-DE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94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3C862-A581-1A76-0341-F0445A21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0FDBE51-876C-A139-307F-69E42B58758F}"/>
              </a:ext>
            </a:extLst>
          </p:cNvPr>
          <p:cNvSpPr/>
          <p:nvPr/>
        </p:nvSpPr>
        <p:spPr>
          <a:xfrm>
            <a:off x="6839444" y="4018643"/>
            <a:ext cx="2424545" cy="12073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Class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B2E83BC-7E32-7043-6081-2A50C4E0D5B7}"/>
              </a:ext>
            </a:extLst>
          </p:cNvPr>
          <p:cNvSpPr/>
          <p:nvPr/>
        </p:nvSpPr>
        <p:spPr>
          <a:xfrm>
            <a:off x="1995300" y="4018642"/>
            <a:ext cx="2424545" cy="120732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/>
              <a:t>Measurement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94271D0-44C1-FB9B-4AB6-CB03ABB2C093}"/>
              </a:ext>
            </a:extLst>
          </p:cNvPr>
          <p:cNvSpPr/>
          <p:nvPr/>
        </p:nvSpPr>
        <p:spPr>
          <a:xfrm>
            <a:off x="4417372" y="1686047"/>
            <a:ext cx="2424545" cy="1207324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dirty="0" err="1"/>
              <a:t>DataManager</a:t>
            </a:r>
          </a:p>
        </p:txBody>
      </p:sp>
      <p:sp>
        <p:nvSpPr>
          <p:cNvPr id="7" name="Pfeil: nach links 6">
            <a:extLst>
              <a:ext uri="{FF2B5EF4-FFF2-40B4-BE49-F238E27FC236}">
                <a16:creationId xmlns:a16="http://schemas.microsoft.com/office/drawing/2014/main" id="{34D00F83-BEB8-AF0B-98B6-469D63CBA100}"/>
              </a:ext>
            </a:extLst>
          </p:cNvPr>
          <p:cNvSpPr/>
          <p:nvPr/>
        </p:nvSpPr>
        <p:spPr>
          <a:xfrm>
            <a:off x="4740233" y="4389746"/>
            <a:ext cx="1771402" cy="465116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creates</a:t>
            </a:r>
          </a:p>
        </p:txBody>
      </p:sp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A3B4669F-A1DA-6DF8-0154-1B937899BC52}"/>
              </a:ext>
            </a:extLst>
          </p:cNvPr>
          <p:cNvSpPr/>
          <p:nvPr/>
        </p:nvSpPr>
        <p:spPr>
          <a:xfrm rot="-2760000">
            <a:off x="2552368" y="2791938"/>
            <a:ext cx="1820883" cy="53438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enters</a:t>
            </a:r>
          </a:p>
        </p:txBody>
      </p:sp>
      <p:pic>
        <p:nvPicPr>
          <p:cNvPr id="11" name="Grafik 10" descr="Tabelle mit einfarbiger Füllung">
            <a:extLst>
              <a:ext uri="{FF2B5EF4-FFF2-40B4-BE49-F238E27FC236}">
                <a16:creationId xmlns:a16="http://schemas.microsoft.com/office/drawing/2014/main" id="{21BEA0C7-0212-9FBF-547D-C29622722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2891" y="1833748"/>
            <a:ext cx="914400" cy="914400"/>
          </a:xfrm>
          <a:prstGeom prst="rect">
            <a:avLst/>
          </a:prstGeom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B4CBE6B4-41C4-151F-214A-E3730C894C71}"/>
              </a:ext>
            </a:extLst>
          </p:cNvPr>
          <p:cNvSpPr/>
          <p:nvPr/>
        </p:nvSpPr>
        <p:spPr>
          <a:xfrm>
            <a:off x="7090558" y="2068285"/>
            <a:ext cx="1345870" cy="445324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creates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5F9163A-8491-ED77-8C7E-1CF8C1EFADE7}"/>
              </a:ext>
            </a:extLst>
          </p:cNvPr>
          <p:cNvSpPr txBox="1"/>
          <p:nvPr/>
        </p:nvSpPr>
        <p:spPr>
          <a:xfrm>
            <a:off x="8515598" y="2558142"/>
            <a:ext cx="23255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.</a:t>
            </a:r>
            <a:r>
              <a:rPr lang="de-DE" dirty="0" err="1"/>
              <a:t>csv</a:t>
            </a:r>
            <a:r>
              <a:rPr lang="de-DE" dirty="0"/>
              <a:t> - </a:t>
            </a:r>
            <a:r>
              <a:rPr lang="de-DE" dirty="0" err="1"/>
              <a:t>file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5156FD3-1F57-B514-A57B-02DE6CF6BDF7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8468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869F91-45CC-2BAF-8E58-20406D03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Structure</a:t>
            </a:r>
          </a:p>
        </p:txBody>
      </p:sp>
      <p:pic>
        <p:nvPicPr>
          <p:cNvPr id="5" name="Grafik 4" descr="Farbe mit einfarbiger Füllung">
            <a:extLst>
              <a:ext uri="{FF2B5EF4-FFF2-40B4-BE49-F238E27FC236}">
                <a16:creationId xmlns:a16="http://schemas.microsoft.com/office/drawing/2014/main" id="{CA3AB739-137C-AA14-1081-686287424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00" y="1693800"/>
            <a:ext cx="914400" cy="914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DE00D6A-98FC-4270-39A0-621F46BA7235}"/>
              </a:ext>
            </a:extLst>
          </p:cNvPr>
          <p:cNvSpPr txBox="1"/>
          <p:nvPr/>
        </p:nvSpPr>
        <p:spPr>
          <a:xfrm>
            <a:off x="1848000" y="1968000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Data </a:t>
            </a:r>
            <a:r>
              <a:rPr lang="de-DE" dirty="0" err="1"/>
              <a:t>bucket</a:t>
            </a:r>
          </a:p>
        </p:txBody>
      </p:sp>
      <p:pic>
        <p:nvPicPr>
          <p:cNvPr id="7" name="Grafik 6" descr="Messbecher mit einfarbiger Füllung">
            <a:extLst>
              <a:ext uri="{FF2B5EF4-FFF2-40B4-BE49-F238E27FC236}">
                <a16:creationId xmlns:a16="http://schemas.microsoft.com/office/drawing/2014/main" id="{68FC0E32-B743-917B-2696-8F1B4335D6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00" y="2611800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08B9090-662A-C8B7-6C6F-327FC5497463}"/>
              </a:ext>
            </a:extLst>
          </p:cNvPr>
          <p:cNvSpPr txBox="1"/>
          <p:nvPr/>
        </p:nvSpPr>
        <p:spPr>
          <a:xfrm>
            <a:off x="1951909" y="2888337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Measurement</a:t>
            </a:r>
          </a:p>
        </p:txBody>
      </p:sp>
      <p:pic>
        <p:nvPicPr>
          <p:cNvPr id="9" name="Grafik 8" descr="Liste Silhouette">
            <a:extLst>
              <a:ext uri="{FF2B5EF4-FFF2-40B4-BE49-F238E27FC236}">
                <a16:creationId xmlns:a16="http://schemas.microsoft.com/office/drawing/2014/main" id="{9557784C-E0E1-E4CD-A34F-9C1470F69C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190" y="3610099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5261659-97DC-9F9B-A28F-B3F83C427734}"/>
              </a:ext>
            </a:extLst>
          </p:cNvPr>
          <p:cNvSpPr txBox="1"/>
          <p:nvPr/>
        </p:nvSpPr>
        <p:spPr>
          <a:xfrm>
            <a:off x="1951908" y="3882895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Arraylist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29CB642-276D-7FDF-71D4-21E1E84CB63B}"/>
              </a:ext>
            </a:extLst>
          </p:cNvPr>
          <p:cNvSpPr/>
          <p:nvPr/>
        </p:nvSpPr>
        <p:spPr>
          <a:xfrm>
            <a:off x="4834246" y="1692233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B377C98-0C85-2580-B38A-0EEF0D806BD5}"/>
              </a:ext>
            </a:extLst>
          </p:cNvPr>
          <p:cNvSpPr/>
          <p:nvPr/>
        </p:nvSpPr>
        <p:spPr>
          <a:xfrm>
            <a:off x="7046025" y="1692232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7F60AF0-5D99-C5AE-44C0-9E24FBD319F1}"/>
              </a:ext>
            </a:extLst>
          </p:cNvPr>
          <p:cNvSpPr/>
          <p:nvPr/>
        </p:nvSpPr>
        <p:spPr>
          <a:xfrm>
            <a:off x="9247908" y="1692231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CE85291F-9835-2EBB-169D-5B4CA4391177}"/>
              </a:ext>
            </a:extLst>
          </p:cNvPr>
          <p:cNvCxnSpPr/>
          <p:nvPr/>
        </p:nvCxnSpPr>
        <p:spPr>
          <a:xfrm flipV="1">
            <a:off x="5749636" y="2152402"/>
            <a:ext cx="1291440" cy="9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649984E-F1D9-11EB-76D8-155524711ACF}"/>
              </a:ext>
            </a:extLst>
          </p:cNvPr>
          <p:cNvCxnSpPr>
            <a:cxnSpLocks/>
          </p:cNvCxnSpPr>
          <p:nvPr/>
        </p:nvCxnSpPr>
        <p:spPr>
          <a:xfrm flipV="1">
            <a:off x="7956467" y="2142505"/>
            <a:ext cx="1291440" cy="9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0A4C057A-E86C-CE72-96E7-9A74C3434ABD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38775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03B1-5A3C-6DF9-7E0A-E85050AD4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EFEC3C-062D-142C-3E9E-87DA431D4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Structure</a:t>
            </a:r>
          </a:p>
        </p:txBody>
      </p:sp>
      <p:pic>
        <p:nvPicPr>
          <p:cNvPr id="5" name="Grafik 4" descr="Farbe mit einfarbiger Füllung">
            <a:extLst>
              <a:ext uri="{FF2B5EF4-FFF2-40B4-BE49-F238E27FC236}">
                <a16:creationId xmlns:a16="http://schemas.microsoft.com/office/drawing/2014/main" id="{742FA1A9-3129-35DE-82A4-7685C1886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00" y="1693800"/>
            <a:ext cx="914400" cy="914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B8B575C-F48E-627D-A972-1C1C51DAF769}"/>
              </a:ext>
            </a:extLst>
          </p:cNvPr>
          <p:cNvSpPr txBox="1"/>
          <p:nvPr/>
        </p:nvSpPr>
        <p:spPr>
          <a:xfrm>
            <a:off x="1848000" y="1968000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Data </a:t>
            </a:r>
            <a:r>
              <a:rPr lang="de-DE" dirty="0" err="1"/>
              <a:t>bucket</a:t>
            </a:r>
          </a:p>
        </p:txBody>
      </p:sp>
      <p:pic>
        <p:nvPicPr>
          <p:cNvPr id="7" name="Grafik 6" descr="Messbecher mit einfarbiger Füllung">
            <a:extLst>
              <a:ext uri="{FF2B5EF4-FFF2-40B4-BE49-F238E27FC236}">
                <a16:creationId xmlns:a16="http://schemas.microsoft.com/office/drawing/2014/main" id="{C0E5DD7C-C02A-4897-D6AB-71E33C46E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00" y="2611800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F5FFDD4-3EFA-26B6-677D-D963E6A4A518}"/>
              </a:ext>
            </a:extLst>
          </p:cNvPr>
          <p:cNvSpPr txBox="1"/>
          <p:nvPr/>
        </p:nvSpPr>
        <p:spPr>
          <a:xfrm>
            <a:off x="1951909" y="2888337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Measurement</a:t>
            </a:r>
          </a:p>
        </p:txBody>
      </p:sp>
      <p:pic>
        <p:nvPicPr>
          <p:cNvPr id="9" name="Grafik 8" descr="Liste Silhouette">
            <a:extLst>
              <a:ext uri="{FF2B5EF4-FFF2-40B4-BE49-F238E27FC236}">
                <a16:creationId xmlns:a16="http://schemas.microsoft.com/office/drawing/2014/main" id="{9360A3CC-0C9D-2FDD-778A-C94C83DF57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190" y="3610099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187FDDDD-9A83-A41F-37F7-1B2E556587E4}"/>
              </a:ext>
            </a:extLst>
          </p:cNvPr>
          <p:cNvSpPr txBox="1"/>
          <p:nvPr/>
        </p:nvSpPr>
        <p:spPr>
          <a:xfrm>
            <a:off x="1951908" y="3882895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Arraylist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7F70E0B-FF04-0EB5-DAFD-8538B26156F4}"/>
              </a:ext>
            </a:extLst>
          </p:cNvPr>
          <p:cNvSpPr/>
          <p:nvPr/>
        </p:nvSpPr>
        <p:spPr>
          <a:xfrm>
            <a:off x="4834246" y="1692233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87E2A5B-A1EF-E5E4-254B-F918145C5B38}"/>
              </a:ext>
            </a:extLst>
          </p:cNvPr>
          <p:cNvSpPr/>
          <p:nvPr/>
        </p:nvSpPr>
        <p:spPr>
          <a:xfrm>
            <a:off x="7046025" y="1692232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01D2D26-9193-1A78-B922-2E33B18A834C}"/>
              </a:ext>
            </a:extLst>
          </p:cNvPr>
          <p:cNvSpPr/>
          <p:nvPr/>
        </p:nvSpPr>
        <p:spPr>
          <a:xfrm>
            <a:off x="9247908" y="1692231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63EDF2A2-C14E-E9F7-C07F-70761A813CC6}"/>
              </a:ext>
            </a:extLst>
          </p:cNvPr>
          <p:cNvCxnSpPr/>
          <p:nvPr/>
        </p:nvCxnSpPr>
        <p:spPr>
          <a:xfrm flipV="1">
            <a:off x="5749636" y="2152402"/>
            <a:ext cx="1291440" cy="9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3B1C3C78-0F98-190B-056A-246C33ECB798}"/>
              </a:ext>
            </a:extLst>
          </p:cNvPr>
          <p:cNvCxnSpPr>
            <a:cxnSpLocks/>
          </p:cNvCxnSpPr>
          <p:nvPr/>
        </p:nvCxnSpPr>
        <p:spPr>
          <a:xfrm flipV="1">
            <a:off x="7956467" y="2142505"/>
            <a:ext cx="1291440" cy="98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Grafik 2" descr="Liste Silhouette">
            <a:extLst>
              <a:ext uri="{FF2B5EF4-FFF2-40B4-BE49-F238E27FC236}">
                <a16:creationId xmlns:a16="http://schemas.microsoft.com/office/drawing/2014/main" id="{BAB31D44-11D2-BD68-8941-69DE6DF72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2267" y="1695202"/>
            <a:ext cx="914400" cy="914400"/>
          </a:xfrm>
          <a:prstGeom prst="rect">
            <a:avLst/>
          </a:prstGeom>
        </p:spPr>
      </p:pic>
      <p:pic>
        <p:nvPicPr>
          <p:cNvPr id="4" name="Grafik 3" descr="Liste Silhouette">
            <a:extLst>
              <a:ext uri="{FF2B5EF4-FFF2-40B4-BE49-F238E27FC236}">
                <a16:creationId xmlns:a16="http://schemas.microsoft.com/office/drawing/2014/main" id="{8254C619-3EA5-FA84-2F60-E3EC7F1841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9098" y="1690253"/>
            <a:ext cx="914400" cy="914400"/>
          </a:xfrm>
          <a:prstGeom prst="rect">
            <a:avLst/>
          </a:prstGeom>
        </p:spPr>
      </p:pic>
      <p:pic>
        <p:nvPicPr>
          <p:cNvPr id="16" name="Grafik 15" descr="Liste Silhouette">
            <a:extLst>
              <a:ext uri="{FF2B5EF4-FFF2-40B4-BE49-F238E27FC236}">
                <a16:creationId xmlns:a16="http://schemas.microsoft.com/office/drawing/2014/main" id="{C78A8A03-1078-40F5-7DEE-216C0EDA7F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45929" y="1695201"/>
            <a:ext cx="914400" cy="914400"/>
          </a:xfrm>
          <a:prstGeom prst="rect">
            <a:avLst/>
          </a:prstGeom>
        </p:spPr>
      </p:pic>
      <p:sp>
        <p:nvSpPr>
          <p:cNvPr id="17" name="Ellipse 16">
            <a:extLst>
              <a:ext uri="{FF2B5EF4-FFF2-40B4-BE49-F238E27FC236}">
                <a16:creationId xmlns:a16="http://schemas.microsoft.com/office/drawing/2014/main" id="{99587614-549A-A6CB-146A-2F5BFC3001E5}"/>
              </a:ext>
            </a:extLst>
          </p:cNvPr>
          <p:cNvSpPr/>
          <p:nvPr/>
        </p:nvSpPr>
        <p:spPr>
          <a:xfrm>
            <a:off x="3968338" y="989610"/>
            <a:ext cx="7699168" cy="225631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 descr="Liste Silhouette">
            <a:extLst>
              <a:ext uri="{FF2B5EF4-FFF2-40B4-BE49-F238E27FC236}">
                <a16:creationId xmlns:a16="http://schemas.microsoft.com/office/drawing/2014/main" id="{4FA983A2-EA0A-F6B7-7067-5E2409E168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85813" y="176150"/>
            <a:ext cx="1349828" cy="1339932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D4BA347A-2A68-E6F7-F7EB-4AD3234AC66E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3184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EE65-41E5-D31B-DEE2-58E4F7AF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16765A-9C05-BC57-730D-5D24FE47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Structure</a:t>
            </a:r>
          </a:p>
        </p:txBody>
      </p:sp>
      <p:pic>
        <p:nvPicPr>
          <p:cNvPr id="5" name="Grafik 4" descr="Farbe mit einfarbiger Füllung">
            <a:extLst>
              <a:ext uri="{FF2B5EF4-FFF2-40B4-BE49-F238E27FC236}">
                <a16:creationId xmlns:a16="http://schemas.microsoft.com/office/drawing/2014/main" id="{E628BE1F-A8E6-DBCE-606C-104E5FA2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00" y="1693800"/>
            <a:ext cx="914400" cy="914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43F7C94-1EC1-528B-C5BC-3D16E2C87494}"/>
              </a:ext>
            </a:extLst>
          </p:cNvPr>
          <p:cNvSpPr txBox="1"/>
          <p:nvPr/>
        </p:nvSpPr>
        <p:spPr>
          <a:xfrm>
            <a:off x="1848000" y="1968000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Data </a:t>
            </a:r>
            <a:r>
              <a:rPr lang="de-DE" dirty="0" err="1"/>
              <a:t>bucket</a:t>
            </a:r>
          </a:p>
        </p:txBody>
      </p:sp>
      <p:pic>
        <p:nvPicPr>
          <p:cNvPr id="7" name="Grafik 6" descr="Messbecher mit einfarbiger Füllung">
            <a:extLst>
              <a:ext uri="{FF2B5EF4-FFF2-40B4-BE49-F238E27FC236}">
                <a16:creationId xmlns:a16="http://schemas.microsoft.com/office/drawing/2014/main" id="{39D60BD4-87E9-63D9-07F0-D6DA259818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00" y="2611800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2A83A07-D59C-2C56-5BA3-86F849E7890F}"/>
              </a:ext>
            </a:extLst>
          </p:cNvPr>
          <p:cNvSpPr txBox="1"/>
          <p:nvPr/>
        </p:nvSpPr>
        <p:spPr>
          <a:xfrm>
            <a:off x="1951909" y="2888337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Measurement</a:t>
            </a:r>
          </a:p>
        </p:txBody>
      </p:sp>
      <p:pic>
        <p:nvPicPr>
          <p:cNvPr id="9" name="Grafik 8" descr="Liste Silhouette">
            <a:extLst>
              <a:ext uri="{FF2B5EF4-FFF2-40B4-BE49-F238E27FC236}">
                <a16:creationId xmlns:a16="http://schemas.microsoft.com/office/drawing/2014/main" id="{D04D1170-A658-0F99-82AC-D263FE1270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190" y="3610099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4E0C6E8-6665-3767-2482-FF3A44738831}"/>
              </a:ext>
            </a:extLst>
          </p:cNvPr>
          <p:cNvSpPr txBox="1"/>
          <p:nvPr/>
        </p:nvSpPr>
        <p:spPr>
          <a:xfrm>
            <a:off x="1951908" y="3882895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Arraylist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E835F33-B174-3903-9DF5-577F098A5D6F}"/>
              </a:ext>
            </a:extLst>
          </p:cNvPr>
          <p:cNvSpPr/>
          <p:nvPr/>
        </p:nvSpPr>
        <p:spPr>
          <a:xfrm>
            <a:off x="4834246" y="1692233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DEAD4E4-D0B9-A61F-502D-56B347CF9548}"/>
              </a:ext>
            </a:extLst>
          </p:cNvPr>
          <p:cNvSpPr/>
          <p:nvPr/>
        </p:nvSpPr>
        <p:spPr>
          <a:xfrm>
            <a:off x="7046025" y="1692232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AB0B614-207B-681C-AEEA-2AE5F60FDA54}"/>
              </a:ext>
            </a:extLst>
          </p:cNvPr>
          <p:cNvSpPr/>
          <p:nvPr/>
        </p:nvSpPr>
        <p:spPr>
          <a:xfrm>
            <a:off x="9247908" y="1692231"/>
            <a:ext cx="912817" cy="914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70A669F-365C-2389-75BA-89343BA71F5D}"/>
              </a:ext>
            </a:extLst>
          </p:cNvPr>
          <p:cNvSpPr/>
          <p:nvPr/>
        </p:nvSpPr>
        <p:spPr>
          <a:xfrm>
            <a:off x="4868882" y="3468583"/>
            <a:ext cx="893025" cy="924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AE807F3-ED7B-B808-4AB6-C84CFCA4B080}"/>
              </a:ext>
            </a:extLst>
          </p:cNvPr>
          <p:cNvSpPr/>
          <p:nvPr/>
        </p:nvSpPr>
        <p:spPr>
          <a:xfrm>
            <a:off x="7055921" y="3468582"/>
            <a:ext cx="893025" cy="924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883173F-B493-ABDB-A753-C6614AF12BF0}"/>
              </a:ext>
            </a:extLst>
          </p:cNvPr>
          <p:cNvSpPr/>
          <p:nvPr/>
        </p:nvSpPr>
        <p:spPr>
          <a:xfrm>
            <a:off x="7085608" y="5195451"/>
            <a:ext cx="893025" cy="924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BCADD2B-82C5-DD66-8915-4FE7954F11C3}"/>
              </a:ext>
            </a:extLst>
          </p:cNvPr>
          <p:cNvSpPr/>
          <p:nvPr/>
        </p:nvSpPr>
        <p:spPr>
          <a:xfrm>
            <a:off x="9267699" y="3468580"/>
            <a:ext cx="893025" cy="92429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6D9C3880-123E-E8BC-18DF-1768C70D5782}"/>
              </a:ext>
            </a:extLst>
          </p:cNvPr>
          <p:cNvCxnSpPr/>
          <p:nvPr/>
        </p:nvCxnSpPr>
        <p:spPr>
          <a:xfrm>
            <a:off x="5304311" y="2607623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FBFE92B0-6B19-DD41-4DA6-230FDAC3AC82}"/>
              </a:ext>
            </a:extLst>
          </p:cNvPr>
          <p:cNvCxnSpPr>
            <a:cxnSpLocks/>
          </p:cNvCxnSpPr>
          <p:nvPr/>
        </p:nvCxnSpPr>
        <p:spPr>
          <a:xfrm>
            <a:off x="7525986" y="2607622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7CAC30E-6B5B-C1A8-4EC4-E660DF0522A6}"/>
              </a:ext>
            </a:extLst>
          </p:cNvPr>
          <p:cNvCxnSpPr>
            <a:cxnSpLocks/>
          </p:cNvCxnSpPr>
          <p:nvPr/>
        </p:nvCxnSpPr>
        <p:spPr>
          <a:xfrm>
            <a:off x="9737765" y="2607621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0602C434-A3EB-5E87-A0EF-9E9FB0F3A0DC}"/>
              </a:ext>
            </a:extLst>
          </p:cNvPr>
          <p:cNvCxnSpPr>
            <a:cxnSpLocks/>
          </p:cNvCxnSpPr>
          <p:nvPr/>
        </p:nvCxnSpPr>
        <p:spPr>
          <a:xfrm>
            <a:off x="7530933" y="4393868"/>
            <a:ext cx="4948" cy="79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42C7B670-B70B-7E9F-2B77-F1AE42CD4747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8623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E9D7-6913-2318-B827-BB5C36B1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5B7CA-8165-448F-06BF-311774BDD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Structure</a:t>
            </a:r>
          </a:p>
        </p:txBody>
      </p:sp>
      <p:pic>
        <p:nvPicPr>
          <p:cNvPr id="5" name="Grafik 4" descr="Farbe mit einfarbiger Füllung">
            <a:extLst>
              <a:ext uri="{FF2B5EF4-FFF2-40B4-BE49-F238E27FC236}">
                <a16:creationId xmlns:a16="http://schemas.microsoft.com/office/drawing/2014/main" id="{1BB998CF-1202-2FFE-2C40-5B38225B6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800" y="1693800"/>
            <a:ext cx="914400" cy="9144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122D115B-2AE4-78D6-CA0A-C61FC65C725A}"/>
              </a:ext>
            </a:extLst>
          </p:cNvPr>
          <p:cNvSpPr txBox="1"/>
          <p:nvPr/>
        </p:nvSpPr>
        <p:spPr>
          <a:xfrm>
            <a:off x="1848000" y="1968000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Data </a:t>
            </a:r>
            <a:r>
              <a:rPr lang="de-DE" dirty="0" err="1"/>
              <a:t>bucket</a:t>
            </a:r>
          </a:p>
        </p:txBody>
      </p:sp>
      <p:pic>
        <p:nvPicPr>
          <p:cNvPr id="7" name="Grafik 6" descr="Messbecher mit einfarbiger Füllung">
            <a:extLst>
              <a:ext uri="{FF2B5EF4-FFF2-40B4-BE49-F238E27FC236}">
                <a16:creationId xmlns:a16="http://schemas.microsoft.com/office/drawing/2014/main" id="{038D3E26-8FB1-5FB0-AEEE-9E9B2F521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800" y="2611800"/>
            <a:ext cx="914400" cy="9144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4FB4A51-9CC0-C373-FDB3-F2999DCA29BB}"/>
              </a:ext>
            </a:extLst>
          </p:cNvPr>
          <p:cNvSpPr txBox="1"/>
          <p:nvPr/>
        </p:nvSpPr>
        <p:spPr>
          <a:xfrm>
            <a:off x="1951909" y="2888337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Measurement</a:t>
            </a:r>
          </a:p>
        </p:txBody>
      </p:sp>
      <p:pic>
        <p:nvPicPr>
          <p:cNvPr id="9" name="Grafik 8" descr="Liste Silhouette">
            <a:extLst>
              <a:ext uri="{FF2B5EF4-FFF2-40B4-BE49-F238E27FC236}">
                <a16:creationId xmlns:a16="http://schemas.microsoft.com/office/drawing/2014/main" id="{56511C96-824B-D0BD-D701-A802DCD3BB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190" y="3610099"/>
            <a:ext cx="914400" cy="9144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E015592-7201-D1EE-D143-6B0711E28F3C}"/>
              </a:ext>
            </a:extLst>
          </p:cNvPr>
          <p:cNvSpPr txBox="1"/>
          <p:nvPr/>
        </p:nvSpPr>
        <p:spPr>
          <a:xfrm>
            <a:off x="1951908" y="3882895"/>
            <a:ext cx="288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dirty="0"/>
              <a:t>Arraylist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02D4380-AAD4-C142-339B-3BCB332D147E}"/>
              </a:ext>
            </a:extLst>
          </p:cNvPr>
          <p:cNvSpPr/>
          <p:nvPr/>
        </p:nvSpPr>
        <p:spPr>
          <a:xfrm>
            <a:off x="4834246" y="1692233"/>
            <a:ext cx="912817" cy="914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529718B-7C3C-0E90-5E61-773F4DB56713}"/>
              </a:ext>
            </a:extLst>
          </p:cNvPr>
          <p:cNvSpPr/>
          <p:nvPr/>
        </p:nvSpPr>
        <p:spPr>
          <a:xfrm>
            <a:off x="7046025" y="1692232"/>
            <a:ext cx="912817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D3ADC60-8116-091E-20CD-661B860838ED}"/>
              </a:ext>
            </a:extLst>
          </p:cNvPr>
          <p:cNvSpPr/>
          <p:nvPr/>
        </p:nvSpPr>
        <p:spPr>
          <a:xfrm>
            <a:off x="9247908" y="1692231"/>
            <a:ext cx="912817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2077FC0-B80A-785C-5E84-B848984381C0}"/>
              </a:ext>
            </a:extLst>
          </p:cNvPr>
          <p:cNvSpPr/>
          <p:nvPr/>
        </p:nvSpPr>
        <p:spPr>
          <a:xfrm>
            <a:off x="4868882" y="3468583"/>
            <a:ext cx="893025" cy="9242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85DE7D9-8507-7A69-11EC-11C7310DA7DF}"/>
              </a:ext>
            </a:extLst>
          </p:cNvPr>
          <p:cNvSpPr/>
          <p:nvPr/>
        </p:nvSpPr>
        <p:spPr>
          <a:xfrm>
            <a:off x="7055921" y="3468582"/>
            <a:ext cx="893025" cy="924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F753F1B-D75A-19B0-5482-AC15742B7245}"/>
              </a:ext>
            </a:extLst>
          </p:cNvPr>
          <p:cNvSpPr/>
          <p:nvPr/>
        </p:nvSpPr>
        <p:spPr>
          <a:xfrm>
            <a:off x="7085608" y="5195451"/>
            <a:ext cx="893025" cy="924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421E6032-63D2-EF10-D8F4-2DFB13D74F44}"/>
              </a:ext>
            </a:extLst>
          </p:cNvPr>
          <p:cNvSpPr/>
          <p:nvPr/>
        </p:nvSpPr>
        <p:spPr>
          <a:xfrm>
            <a:off x="9267699" y="3468580"/>
            <a:ext cx="893025" cy="92429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AFA141D2-5CD8-9DFC-EE9B-3EE6BBA32733}"/>
              </a:ext>
            </a:extLst>
          </p:cNvPr>
          <p:cNvCxnSpPr/>
          <p:nvPr/>
        </p:nvCxnSpPr>
        <p:spPr>
          <a:xfrm>
            <a:off x="5304311" y="2607623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55BC32DC-98C9-3C7F-2655-06EC07963E85}"/>
              </a:ext>
            </a:extLst>
          </p:cNvPr>
          <p:cNvCxnSpPr>
            <a:cxnSpLocks/>
          </p:cNvCxnSpPr>
          <p:nvPr/>
        </p:nvCxnSpPr>
        <p:spPr>
          <a:xfrm>
            <a:off x="7525986" y="2607622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B950889-093B-2B67-51D3-37C1BB097970}"/>
              </a:ext>
            </a:extLst>
          </p:cNvPr>
          <p:cNvCxnSpPr>
            <a:cxnSpLocks/>
          </p:cNvCxnSpPr>
          <p:nvPr/>
        </p:nvCxnSpPr>
        <p:spPr>
          <a:xfrm>
            <a:off x="9737765" y="2607621"/>
            <a:ext cx="4948" cy="8609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26436C3C-95E8-968C-7151-63F6DD14B5BD}"/>
              </a:ext>
            </a:extLst>
          </p:cNvPr>
          <p:cNvCxnSpPr>
            <a:cxnSpLocks/>
          </p:cNvCxnSpPr>
          <p:nvPr/>
        </p:nvCxnSpPr>
        <p:spPr>
          <a:xfrm>
            <a:off x="7530933" y="4393868"/>
            <a:ext cx="4948" cy="79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Grafik 15" descr="Farbe mit einfarbiger Füllung">
            <a:extLst>
              <a:ext uri="{FF2B5EF4-FFF2-40B4-BE49-F238E27FC236}">
                <a16:creationId xmlns:a16="http://schemas.microsoft.com/office/drawing/2014/main" id="{6DFE3BAD-C2EC-C4CD-3CFD-9DD840A54E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1981" y="362774"/>
            <a:ext cx="914400" cy="914400"/>
          </a:xfrm>
          <a:prstGeom prst="rect">
            <a:avLst/>
          </a:prstGeom>
        </p:spPr>
      </p:pic>
      <p:pic>
        <p:nvPicPr>
          <p:cNvPr id="17" name="Grafik 16" descr="Farbe mit einfarbiger Füllung">
            <a:extLst>
              <a:ext uri="{FF2B5EF4-FFF2-40B4-BE49-F238E27FC236}">
                <a16:creationId xmlns:a16="http://schemas.microsoft.com/office/drawing/2014/main" id="{368DE3B8-E4A8-D5D7-502F-D7134A585A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53552" y="362774"/>
            <a:ext cx="914400" cy="914400"/>
          </a:xfrm>
          <a:prstGeom prst="rect">
            <a:avLst/>
          </a:prstGeom>
        </p:spPr>
      </p:pic>
      <p:pic>
        <p:nvPicPr>
          <p:cNvPr id="24" name="Grafik 23" descr="Farbe mit einfarbiger Füllung">
            <a:extLst>
              <a:ext uri="{FF2B5EF4-FFF2-40B4-BE49-F238E27FC236}">
                <a16:creationId xmlns:a16="http://schemas.microsoft.com/office/drawing/2014/main" id="{54E50203-1BBC-77BC-B6B6-E583999D77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45539" y="362774"/>
            <a:ext cx="914400" cy="914400"/>
          </a:xfrm>
          <a:prstGeom prst="rect">
            <a:avLst/>
          </a:prstGeom>
        </p:spPr>
      </p:pic>
      <p:pic>
        <p:nvPicPr>
          <p:cNvPr id="25" name="Grafik 24" descr="Messbecher mit einfarbiger Füllung">
            <a:extLst>
              <a:ext uri="{FF2B5EF4-FFF2-40B4-BE49-F238E27FC236}">
                <a16:creationId xmlns:a16="http://schemas.microsoft.com/office/drawing/2014/main" id="{8F517BC6-CB93-7A5C-0C73-910AA4BD0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1981" y="1691462"/>
            <a:ext cx="914400" cy="914400"/>
          </a:xfrm>
          <a:prstGeom prst="rect">
            <a:avLst/>
          </a:prstGeom>
        </p:spPr>
      </p:pic>
      <p:pic>
        <p:nvPicPr>
          <p:cNvPr id="26" name="Grafik 25" descr="Messbecher mit einfarbiger Füllung">
            <a:extLst>
              <a:ext uri="{FF2B5EF4-FFF2-40B4-BE49-F238E27FC236}">
                <a16:creationId xmlns:a16="http://schemas.microsoft.com/office/drawing/2014/main" id="{847DD582-9288-0DE8-A0D5-49EAEAC6B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409" y="3472761"/>
            <a:ext cx="914400" cy="914400"/>
          </a:xfrm>
          <a:prstGeom prst="rect">
            <a:avLst/>
          </a:prstGeom>
        </p:spPr>
      </p:pic>
      <p:pic>
        <p:nvPicPr>
          <p:cNvPr id="27" name="Grafik 26" descr="Messbecher mit einfarbiger Füllung">
            <a:extLst>
              <a:ext uri="{FF2B5EF4-FFF2-40B4-BE49-F238E27FC236}">
                <a16:creationId xmlns:a16="http://schemas.microsoft.com/office/drawing/2014/main" id="{7A334787-F5DF-9F7A-FA9E-88C04D3C5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33759" y="1691462"/>
            <a:ext cx="914400" cy="914400"/>
          </a:xfrm>
          <a:prstGeom prst="rect">
            <a:avLst/>
          </a:prstGeom>
        </p:spPr>
      </p:pic>
      <p:pic>
        <p:nvPicPr>
          <p:cNvPr id="28" name="Grafik 27" descr="Messbecher mit einfarbiger Füllung">
            <a:extLst>
              <a:ext uri="{FF2B5EF4-FFF2-40B4-BE49-F238E27FC236}">
                <a16:creationId xmlns:a16="http://schemas.microsoft.com/office/drawing/2014/main" id="{AC1AED8A-29ED-7E13-C694-6F9730F71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5434" y="1691461"/>
            <a:ext cx="914400" cy="914400"/>
          </a:xfrm>
          <a:prstGeom prst="rect">
            <a:avLst/>
          </a:prstGeom>
        </p:spPr>
      </p:pic>
      <p:pic>
        <p:nvPicPr>
          <p:cNvPr id="29" name="Grafik 28" descr="Messbecher mit einfarbiger Füllung">
            <a:extLst>
              <a:ext uri="{FF2B5EF4-FFF2-40B4-BE49-F238E27FC236}">
                <a16:creationId xmlns:a16="http://schemas.microsoft.com/office/drawing/2014/main" id="{602232F4-81BA-C776-CEE0-7E65C34DE9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85122" y="3472760"/>
            <a:ext cx="914400" cy="914400"/>
          </a:xfrm>
          <a:prstGeom prst="rect">
            <a:avLst/>
          </a:prstGeom>
        </p:spPr>
      </p:pic>
      <p:pic>
        <p:nvPicPr>
          <p:cNvPr id="30" name="Grafik 29" descr="Messbecher mit einfarbiger Füllung">
            <a:extLst>
              <a:ext uri="{FF2B5EF4-FFF2-40B4-BE49-F238E27FC236}">
                <a16:creationId xmlns:a16="http://schemas.microsoft.com/office/drawing/2014/main" id="{91658B6B-DF48-2AF6-C738-14CEBA97BC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53550" y="3467811"/>
            <a:ext cx="914400" cy="914400"/>
          </a:xfrm>
          <a:prstGeom prst="rect">
            <a:avLst/>
          </a:prstGeom>
        </p:spPr>
      </p:pic>
      <p:pic>
        <p:nvPicPr>
          <p:cNvPr id="31" name="Grafik 30" descr="Messbecher mit einfarbiger Füllung">
            <a:extLst>
              <a:ext uri="{FF2B5EF4-FFF2-40B4-BE49-F238E27FC236}">
                <a16:creationId xmlns:a16="http://schemas.microsoft.com/office/drawing/2014/main" id="{0F4B9D2D-7012-9FC1-AE5F-05EFC8D77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3446" y="5184785"/>
            <a:ext cx="914400" cy="91440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A8F4A050-47F7-B962-B2F1-22D14D290BBD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21502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AE0FD1-44DF-48EC-CBFC-B28A16C5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Comparison</a:t>
            </a:r>
          </a:p>
        </p:txBody>
      </p:sp>
      <p:pic>
        <p:nvPicPr>
          <p:cNvPr id="4" name="Inhaltsplatzhalter 3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D5D6396C-7C09-6934-647A-07E507D23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2000" y="1692494"/>
            <a:ext cx="7488000" cy="4491600"/>
          </a:xfr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5F025E6F-ACEA-8E61-298A-2EB9B0276D43}"/>
              </a:ext>
            </a:extLst>
          </p:cNvPr>
          <p:cNvSpPr txBox="1"/>
          <p:nvPr/>
        </p:nvSpPr>
        <p:spPr>
          <a:xfrm>
            <a:off x="11745686" y="63354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0303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Freeform: Shape 1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37E8AEA-361B-8A29-3CD4-3940F8243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de-DE" sz="2800"/>
              <a:t>Why is pruning better?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Content Placeholder 7">
            <a:extLst>
              <a:ext uri="{FF2B5EF4-FFF2-40B4-BE49-F238E27FC236}">
                <a16:creationId xmlns:a16="http://schemas.microsoft.com/office/drawing/2014/main" id="{8EEA8E4A-A1B0-6CD9-9DA0-85D2C0CDC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Less states visited 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         Less states need computing</a:t>
            </a:r>
          </a:p>
        </p:txBody>
      </p:sp>
      <p:pic>
        <p:nvPicPr>
          <p:cNvPr id="4" name="Inhaltsplatzhalter 3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9C05D20C-D22C-976B-2C45-C965379EC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402690"/>
            <a:ext cx="6922008" cy="4153204"/>
          </a:xfrm>
          <a:prstGeom prst="rect">
            <a:avLst/>
          </a:prstGeom>
        </p:spPr>
      </p:pic>
      <p:sp>
        <p:nvSpPr>
          <p:cNvPr id="5" name="Pfeil: gestreift nach rechts 4">
            <a:extLst>
              <a:ext uri="{FF2B5EF4-FFF2-40B4-BE49-F238E27FC236}">
                <a16:creationId xmlns:a16="http://schemas.microsoft.com/office/drawing/2014/main" id="{721D6E9C-E6C3-61C7-8F7E-1AE459A3D35F}"/>
              </a:ext>
            </a:extLst>
          </p:cNvPr>
          <p:cNvSpPr/>
          <p:nvPr/>
        </p:nvSpPr>
        <p:spPr>
          <a:xfrm>
            <a:off x="465116" y="3493324"/>
            <a:ext cx="336467" cy="1979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2000BDC-E1E3-075E-381C-A9186BEDF54D}"/>
              </a:ext>
            </a:extLst>
          </p:cNvPr>
          <p:cNvSpPr txBox="1"/>
          <p:nvPr/>
        </p:nvSpPr>
        <p:spPr>
          <a:xfrm>
            <a:off x="11745686" y="63354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7333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B7CFD4F-2204-758F-C508-492BE137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de-DE" sz="4000"/>
              <a:t>pruning upgrade ideas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C12C89-B542-29E4-7B27-66DD6802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de-DE" sz="2200"/>
              <a:t>Biased alpha beta pruning </a:t>
            </a:r>
          </a:p>
          <a:p>
            <a:r>
              <a:rPr lang="de-DE" sz="2200"/>
              <a:t>Prune all overwrites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C2FF4C-096D-0533-765A-B9CA17363823}"/>
              </a:ext>
            </a:extLst>
          </p:cNvPr>
          <p:cNvSpPr txBox="1"/>
          <p:nvPr/>
        </p:nvSpPr>
        <p:spPr>
          <a:xfrm>
            <a:off x="11745686" y="63354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12288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04D340-612B-0B06-37F6-333E88DC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de-DE" sz="4000"/>
              <a:t>Dynamic Heuristics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881FF8C-DCC9-33A1-45AF-79BA00489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200" dirty="0"/>
              <a:t>Corner </a:t>
            </a:r>
            <a:r>
              <a:rPr lang="de-DE" sz="2200" dirty="0" err="1"/>
              <a:t>side</a:t>
            </a:r>
            <a:r>
              <a:rPr lang="de-DE" sz="2200" dirty="0"/>
              <a:t> </a:t>
            </a:r>
            <a:r>
              <a:rPr lang="de-DE" sz="2200" dirty="0" err="1"/>
              <a:t>propagating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the</a:t>
            </a:r>
            <a:r>
              <a:rPr lang="de-DE" sz="2200" dirty="0"/>
              <a:t> </a:t>
            </a:r>
            <a:r>
              <a:rPr lang="de-DE" sz="2200" dirty="0" err="1"/>
              <a:t>inside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6F1F177-444B-7DCC-EBD1-DFE2B54FB56F}"/>
              </a:ext>
            </a:extLst>
          </p:cNvPr>
          <p:cNvSpPr txBox="1"/>
          <p:nvPr/>
        </p:nvSpPr>
        <p:spPr>
          <a:xfrm>
            <a:off x="11745686" y="63354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41702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Breitbild</PresentationFormat>
  <Paragraphs>64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</vt:lpstr>
      <vt:lpstr>Reversi group 6</vt:lpstr>
      <vt:lpstr>MiniMax Algorithms</vt:lpstr>
      <vt:lpstr>Performance Problems</vt:lpstr>
      <vt:lpstr>Solution</vt:lpstr>
      <vt:lpstr>Improved version</vt:lpstr>
      <vt:lpstr>Measurement System</vt:lpstr>
      <vt:lpstr>Architecture</vt:lpstr>
      <vt:lpstr>Data Structure</vt:lpstr>
      <vt:lpstr>Data Structure</vt:lpstr>
      <vt:lpstr>Data Structure</vt:lpstr>
      <vt:lpstr>Data Structure</vt:lpstr>
      <vt:lpstr>Comparison</vt:lpstr>
      <vt:lpstr>Why is pruning better?</vt:lpstr>
      <vt:lpstr>pruning upgrade ideas</vt:lpstr>
      <vt:lpstr>Dynamic Heuristics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Frithjof Alms</dc:creator>
  <cp:lastModifiedBy>Frithjof Alms</cp:lastModifiedBy>
  <cp:revision>211</cp:revision>
  <dcterms:created xsi:type="dcterms:W3CDTF">2025-05-16T21:08:26Z</dcterms:created>
  <dcterms:modified xsi:type="dcterms:W3CDTF">2025-05-19T07:00:38Z</dcterms:modified>
</cp:coreProperties>
</file>