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4" r:id="rId9"/>
    <p:sldId id="263" r:id="rId10"/>
    <p:sldId id="265" r:id="rId11"/>
    <p:sldId id="267" r:id="rId12"/>
    <p:sldId id="266" r:id="rId13"/>
    <p:sldId id="268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297743-189C-4352-B1A0-5F7FA5E1E7B9}" v="253" dt="2025-06-22T19:18:27.598"/>
    <p1510:client id="{4DAD493E-D026-40A2-9FF6-3500C1078A04}" v="417" dt="2025-06-23T01:54:57.1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84" autoAdjust="0"/>
    <p:restoredTop sz="94660"/>
  </p:normalViewPr>
  <p:slideViewPr>
    <p:cSldViewPr snapToGrid="0">
      <p:cViewPr varScale="1">
        <p:scale>
          <a:sx n="56" d="100"/>
          <a:sy n="56" d="100"/>
        </p:scale>
        <p:origin x="72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5BAA3E-7EB8-44E5-B1E3-9890CFD507EC}" type="datetimeFigureOut">
              <a:rPr lang="de-DE" smtClean="0"/>
              <a:t>23.06.2025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75B9EB-B8AE-4049-BC6B-D59B3A91CA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2017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8C73D9-F722-3803-9489-FB7F44F4DB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6F96F36-366F-B3FE-0DC9-374AD2D1D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B850D1-0400-FCCA-16C8-E4660D7F7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6BC9-5A15-4A8D-B76F-8B457DB60B89}" type="datetime1">
              <a:rPr lang="de-DE" smtClean="0"/>
              <a:t>23.06.2025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7606CA-C396-CE9A-7138-F8412FFD0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426C20-09D8-E7CB-1727-442261FFD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197E-545D-4BF5-8FB9-7BDA28CB14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0052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AD6B40-B11B-4279-3406-9D88F2AD2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B50FBC-7448-CD39-CA2E-9780754C5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E7133F-E0DF-2642-9A38-C09BB03F6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5C03B-AE58-45D7-B299-42EE87B48415}" type="datetime1">
              <a:rPr lang="de-DE" smtClean="0"/>
              <a:t>23.06.2025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CF73D2-4B48-BDC3-DBEF-4831A8816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A77FC1-E974-B92A-476F-0388B65BE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197E-545D-4BF5-8FB9-7BDA28CB14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8177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3DC246-21DD-9ED9-9C68-760228A4A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0E2ABD-D5C7-A898-B4F2-B3D38C2DA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52E1A4-D9AE-5CD9-9D02-0807E0D77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830C-B4F7-4D9A-8F23-990C8CE69D70}" type="datetime1">
              <a:rPr lang="de-DE" smtClean="0"/>
              <a:t>23.06.2025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E1E9500-64AC-BE61-2904-27B2B6CD5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110658-E4EE-D318-311C-6AC27DF65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197E-545D-4BF5-8FB9-7BDA28CB14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176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16B3C9-F2F4-AB9A-7D2D-945A3B2C9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CEE844-2C94-253D-2DB5-C96D5FE172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DB1C7E4-7706-7596-4325-EF49CB3F8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FF30EC-6E0A-2E51-7088-AEA28CF9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49D6-888D-4DC3-8628-2DF9BB3CEE83}" type="datetime1">
              <a:rPr lang="de-DE" smtClean="0"/>
              <a:t>23.06.2025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FE5F346-BEAF-ED68-B961-287212345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A9C0B64-5773-872D-06E7-EB9F7CCEE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197E-545D-4BF5-8FB9-7BDA28CB14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0849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88DC73-29C3-2E83-E621-3DCAD3831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DA624B-A675-0A2B-76C4-4FCAD3333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37C4BF4-ABD9-5FB4-79AE-B7163B806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3F4C3AE-0C58-E76C-3415-4750FFE91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D7DB4A4-8777-55EF-E85A-AB6334F8BE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D701F21-A4F3-B786-82D4-2618D7F75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AF882-81B3-4F4D-8ED2-C6A44DCD8068}" type="datetime1">
              <a:rPr lang="de-DE" smtClean="0"/>
              <a:t>23.06.2025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CA0307E-37E7-47B4-FCAB-625782723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699D085-CB23-6FAC-5ADC-A2CE6372D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197E-545D-4BF5-8FB9-7BDA28CB14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8370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FD6F60-F94F-DD4D-20EB-67F848F35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3757C3C-54BE-5F01-5B5D-63D3EAAD3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4C658-9E6A-4810-B891-12B91140F64B}" type="datetime1">
              <a:rPr lang="de-DE" smtClean="0"/>
              <a:t>23.06.2025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4657729-8FEA-E008-24B7-21B126362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A82BD83-B445-FBD3-8B1A-D2A2CFC33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197E-545D-4BF5-8FB9-7BDA28CB14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091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2D2A3AB-EADE-06C5-C362-ECA3FFFFD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546E7-7FB8-4F14-9681-30B19A5C8362}" type="datetime1">
              <a:rPr lang="de-DE" smtClean="0"/>
              <a:t>23.06.2025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A9F75FF-48F8-BBB2-1BF2-65931091F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55F2EC4-52B5-F401-4521-98CD33728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197E-545D-4BF5-8FB9-7BDA28CB14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6738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FF1974-A6A1-71DF-873B-5DC66A9D2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FEFA20-3958-5BA1-07AC-44AD4249D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E83BC1-3B4B-6D66-2C84-DFE33FA0C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43481E2-FE3C-E923-4F5B-F8671257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05F10-AC75-449D-A5FB-A63BEEDD35F1}" type="datetime1">
              <a:rPr lang="de-DE" smtClean="0"/>
              <a:t>23.06.2025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A4470E-2125-1B19-5155-C3443C724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DA6712-690B-EB98-49D1-5F30A2D0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197E-545D-4BF5-8FB9-7BDA28CB14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6795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77F09F-DC1F-1302-D5EF-2E11F4398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C7513E8-1F3F-5176-51F0-152FEF2D1C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43A408F-D34C-B84F-D0EE-AB5DD7674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104A474-6554-34AE-F726-C01F8615C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B911C-502C-4679-9CB2-59F2F730D1AA}" type="datetime1">
              <a:rPr lang="de-DE" smtClean="0"/>
              <a:t>23.06.2025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F85379E-0589-F476-3CDE-F3FDDA50A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6D0E7E2-3F11-EBF6-6674-F1BB9DAAA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197E-545D-4BF5-8FB9-7BDA28CB14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7641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A0ACC1-620F-DA18-E5E8-F7039612E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85702D6-9D9C-8247-9A34-D23F47CBC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F552E4-5266-699B-EA89-B58FAED18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A7BDD-E0FC-4DDD-9C65-5DA3568EDEF7}" type="datetime1">
              <a:rPr lang="de-DE" smtClean="0"/>
              <a:t>23.06.2025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5B5957-2DFA-E867-1F1D-917EE997D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BD0359-2985-C6FD-E036-0B21A66A3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197E-545D-4BF5-8FB9-7BDA28CB14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8135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92AB678-463F-35F3-2DF9-D09681370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CD6CB6C-3F3B-6FCD-722C-6E838A3DA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7D71A0-3CF1-4789-76CE-FB911C66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CC646-ED6F-4180-B043-4D6CAA142523}" type="datetime1">
              <a:rPr lang="de-DE" smtClean="0"/>
              <a:t>23.06.2025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CA9478-27C4-B2B2-8E78-7324498C8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C227DD-54E7-B26F-2A90-B086F280E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197E-545D-4BF5-8FB9-7BDA28CB14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54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DB2AD14-3CBC-1E31-7CCF-9C863CF61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E900C9-D4B8-6FBB-26AF-0E1965678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0D8E95-AF29-7508-901C-68934C639C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1B06A-1D06-47ED-9A8A-69725F18416A}" type="datetime1">
              <a:rPr lang="de-DE" smtClean="0"/>
              <a:t>23.06.2025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FE3797-F202-1730-50AB-76EC91C62E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C0400F-44A2-75D5-01C0-599254F64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C197E-545D-4BF5-8FB9-7BDA28CB14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386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542F934-916A-24CC-43E0-5AB4E7A1B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de-DE" sz="4800">
                <a:solidFill>
                  <a:srgbClr val="FFFFFF"/>
                </a:solidFill>
              </a:rPr>
              <a:t>Assignment 5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3B07B5F-D59E-3922-D3EA-F31301E7D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de-DE"/>
              <a:t>Group 6</a:t>
            </a:r>
          </a:p>
        </p:txBody>
      </p:sp>
    </p:spTree>
    <p:extLst>
      <p:ext uri="{BB962C8B-B14F-4D97-AF65-F5344CB8AC3E}">
        <p14:creationId xmlns:p14="http://schemas.microsoft.com/office/powerpoint/2010/main" val="3118049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E3C5A46-D140-A868-52C3-331BF4F42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Aspiration Windows implementation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BC4584-4700-4CDF-A42E-CDC78DF25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de-DE" sz="2000"/>
              <a:t>Double between 0 and 1</a:t>
            </a:r>
          </a:p>
          <a:p>
            <a:r>
              <a:rPr lang="de-DE" sz="2000"/>
              <a:t>Example: AspirationSize = 0,5; Heuristic score found in previous depth = 100</a:t>
            </a:r>
          </a:p>
          <a:p>
            <a:pPr lvl="1"/>
            <a:r>
              <a:rPr lang="de-DE" sz="2000"/>
              <a:t>Next Alpha: 50; Next Beta: 150</a:t>
            </a:r>
          </a:p>
          <a:p>
            <a:r>
              <a:rPr lang="de-DE" sz="2000"/>
              <a:t>For the test:</a:t>
            </a:r>
          </a:p>
          <a:p>
            <a:pPr lvl="1"/>
            <a:r>
              <a:rPr lang="de-DE" sz="2000"/>
              <a:t>Multiples of 0,05</a:t>
            </a:r>
          </a:p>
          <a:p>
            <a:pPr lvl="1"/>
            <a:r>
              <a:rPr lang="de-DE" sz="2000"/>
              <a:t>Number of states and computation time measured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289E3D-0058-3CD9-79AF-A64C6A5F6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49C197E-545D-4BF5-8FB9-7BDA28CB1459}" type="slidenum">
              <a:rPr lang="de-DE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de-DE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429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F51B7D-DA96-2DE4-18C9-9EB9ACB4E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2838" y="289105"/>
            <a:ext cx="10515600" cy="1325563"/>
          </a:xfrm>
        </p:spPr>
        <p:txBody>
          <a:bodyPr/>
          <a:lstStyle/>
          <a:p>
            <a:r>
              <a:rPr lang="de-DE" dirty="0"/>
              <a:t>Test </a:t>
            </a:r>
            <a:r>
              <a:rPr lang="de-DE" dirty="0" err="1"/>
              <a:t>results</a:t>
            </a:r>
            <a:r>
              <a:rPr lang="de-DE" dirty="0"/>
              <a:t> on </a:t>
            </a:r>
            <a:r>
              <a:rPr lang="de-DE" dirty="0" err="1"/>
              <a:t>differently</a:t>
            </a:r>
            <a:r>
              <a:rPr lang="de-DE" dirty="0"/>
              <a:t> </a:t>
            </a:r>
            <a:r>
              <a:rPr lang="de-DE" dirty="0" err="1"/>
              <a:t>sized</a:t>
            </a:r>
            <a:r>
              <a:rPr lang="de-DE" dirty="0"/>
              <a:t> </a:t>
            </a:r>
            <a:r>
              <a:rPr lang="de-DE" dirty="0" err="1"/>
              <a:t>maps</a:t>
            </a:r>
            <a:endParaRPr lang="de-DE" dirty="0"/>
          </a:p>
        </p:txBody>
      </p:sp>
      <p:pic>
        <p:nvPicPr>
          <p:cNvPr id="5" name="Inhaltsplatzhalter 4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E70BE172-AD8C-220C-2C3E-D2706F1704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551008"/>
            <a:ext cx="6111433" cy="3692324"/>
          </a:xfr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0E30745-25A8-52E9-8D87-45918730C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547769"/>
            <a:ext cx="6096000" cy="369232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9A3ED30-1768-FDC6-0F92-C3A3FD74D35F}"/>
              </a:ext>
            </a:extLst>
          </p:cNvPr>
          <p:cNvSpPr txBox="1"/>
          <p:nvPr/>
        </p:nvSpPr>
        <p:spPr>
          <a:xfrm>
            <a:off x="6029845" y="1850460"/>
            <a:ext cx="1261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Time in </a:t>
            </a:r>
            <a:r>
              <a:rPr lang="de-DE" sz="1400" dirty="0" err="1"/>
              <a:t>ns</a:t>
            </a:r>
            <a:endParaRPr lang="de-DE" sz="14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ED137D5-958C-DF8A-F5A6-7B7455BFF6F3}"/>
              </a:ext>
            </a:extLst>
          </p:cNvPr>
          <p:cNvSpPr txBox="1"/>
          <p:nvPr/>
        </p:nvSpPr>
        <p:spPr>
          <a:xfrm>
            <a:off x="0" y="1850460"/>
            <a:ext cx="1261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Time in </a:t>
            </a:r>
            <a:r>
              <a:rPr lang="de-DE" sz="1400" dirty="0" err="1"/>
              <a:t>ns</a:t>
            </a:r>
            <a:endParaRPr lang="de-DE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BE670CEC-C915-8C57-0DC1-38911750C208}"/>
                  </a:ext>
                </a:extLst>
              </p:cNvPr>
              <p:cNvSpPr txBox="1"/>
              <p:nvPr/>
            </p:nvSpPr>
            <p:spPr>
              <a:xfrm>
                <a:off x="2196847" y="5871850"/>
                <a:ext cx="713579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sz="2400" dirty="0"/>
                  <a:t>Larger </a:t>
                </a:r>
                <a:r>
                  <a:rPr lang="de-DE" sz="2400" dirty="0" err="1"/>
                  <a:t>maps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had</a:t>
                </a:r>
                <a:r>
                  <a:rPr lang="de-DE" sz="2400" dirty="0"/>
                  <a:t> a </a:t>
                </a:r>
                <a:r>
                  <a:rPr lang="de-DE" sz="2400" dirty="0" err="1"/>
                  <a:t>higher</a:t>
                </a:r>
                <a:r>
                  <a:rPr lang="de-DE" sz="2400" dirty="0"/>
                  <a:t> optimal </a:t>
                </a:r>
                <a:r>
                  <a:rPr lang="de-DE" sz="2400" dirty="0" err="1"/>
                  <a:t>AspirationSize</a:t>
                </a:r>
                <a:endParaRPr lang="de-DE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sz="2400" b="0" dirty="0"/>
                  <a:t>(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𝑊𝑖𝑑𝑡h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h𝑒𝑖𝑔h𝑡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/10000)</m:t>
                    </m:r>
                  </m:oMath>
                </a14:m>
                <a:r>
                  <a:rPr lang="de-DE" sz="2400" dirty="0"/>
                  <a:t>+0,275</a:t>
                </a:r>
              </a:p>
              <a:p>
                <a:pPr marL="342900" indent="-342900">
                  <a:buFontTx/>
                  <a:buChar char="-"/>
                </a:pPr>
                <a:endParaRPr lang="de-DE" sz="2400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BE670CEC-C915-8C57-0DC1-38911750C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847" y="5871850"/>
                <a:ext cx="7135793" cy="1200329"/>
              </a:xfrm>
              <a:prstGeom prst="rect">
                <a:avLst/>
              </a:prstGeom>
              <a:blipFill>
                <a:blip r:embed="rId4"/>
                <a:stretch>
                  <a:fillRect l="-1110" t="-406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feld 10">
            <a:extLst>
              <a:ext uri="{FF2B5EF4-FFF2-40B4-BE49-F238E27FC236}">
                <a16:creationId xmlns:a16="http://schemas.microsoft.com/office/drawing/2014/main" id="{24A5ED41-8488-6843-3AFB-B2A3E58C787F}"/>
              </a:ext>
            </a:extLst>
          </p:cNvPr>
          <p:cNvSpPr txBox="1"/>
          <p:nvPr/>
        </p:nvSpPr>
        <p:spPr>
          <a:xfrm>
            <a:off x="1076910" y="5314105"/>
            <a:ext cx="2730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Competetive</a:t>
            </a:r>
            <a:r>
              <a:rPr lang="de-DE" dirty="0"/>
              <a:t> </a:t>
            </a:r>
            <a:r>
              <a:rPr lang="de-DE" dirty="0" err="1"/>
              <a:t>Map</a:t>
            </a:r>
            <a:r>
              <a:rPr lang="de-DE" dirty="0"/>
              <a:t> (20x20)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B96586D-9373-E65E-3B78-A5B0C5E903C3}"/>
              </a:ext>
            </a:extLst>
          </p:cNvPr>
          <p:cNvSpPr txBox="1"/>
          <p:nvPr/>
        </p:nvSpPr>
        <p:spPr>
          <a:xfrm>
            <a:off x="-11175" y="1851949"/>
            <a:ext cx="1261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Time in </a:t>
            </a:r>
            <a:r>
              <a:rPr lang="de-DE" sz="1400" dirty="0" err="1"/>
              <a:t>ns</a:t>
            </a:r>
            <a:endParaRPr lang="de-DE" sz="14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5A13E98-4A9E-BC2B-B26E-FC578480F029}"/>
              </a:ext>
            </a:extLst>
          </p:cNvPr>
          <p:cNvSpPr txBox="1"/>
          <p:nvPr/>
        </p:nvSpPr>
        <p:spPr>
          <a:xfrm>
            <a:off x="7861603" y="5310231"/>
            <a:ext cx="2314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Pikatchu</a:t>
            </a:r>
            <a:r>
              <a:rPr lang="de-DE" dirty="0"/>
              <a:t> </a:t>
            </a:r>
            <a:r>
              <a:rPr lang="de-DE" dirty="0" err="1"/>
              <a:t>Map</a:t>
            </a:r>
            <a:r>
              <a:rPr lang="de-DE" dirty="0"/>
              <a:t> (50x50)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C3CEF1EF-767E-695B-E0A5-3E55F786E766}"/>
              </a:ext>
            </a:extLst>
          </p:cNvPr>
          <p:cNvCxnSpPr>
            <a:cxnSpLocks/>
          </p:cNvCxnSpPr>
          <p:nvPr/>
        </p:nvCxnSpPr>
        <p:spPr>
          <a:xfrm flipV="1">
            <a:off x="6840638" y="4791919"/>
            <a:ext cx="254643" cy="6079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D1947D30-B7BC-56AC-3F4B-55D344713E3D}"/>
              </a:ext>
            </a:extLst>
          </p:cNvPr>
          <p:cNvCxnSpPr>
            <a:cxnSpLocks/>
          </p:cNvCxnSpPr>
          <p:nvPr/>
        </p:nvCxnSpPr>
        <p:spPr>
          <a:xfrm flipH="1" flipV="1">
            <a:off x="5359078" y="4791919"/>
            <a:ext cx="191716" cy="600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B5198678-7361-1FA7-F3FA-4A4001226937}"/>
              </a:ext>
            </a:extLst>
          </p:cNvPr>
          <p:cNvSpPr txBox="1"/>
          <p:nvPr/>
        </p:nvSpPr>
        <p:spPr>
          <a:xfrm>
            <a:off x="5454936" y="5435619"/>
            <a:ext cx="155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Factor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0,05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C23F080-A824-9F0C-D551-392BE36EE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197E-545D-4BF5-8FB9-7BDA28CB1459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2873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46D77B5-73B6-69AE-6ABD-98D360EE3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Planned improvements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033CA8B-C1B8-C150-FE19-42F142C6F820}"/>
              </a:ext>
            </a:extLst>
          </p:cNvPr>
          <p:cNvSpPr txBox="1"/>
          <p:nvPr/>
        </p:nvSpPr>
        <p:spPr>
          <a:xfrm>
            <a:off x="1144923" y="2405894"/>
            <a:ext cx="5315189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Chess Map (50x50)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Optimal constant AspirationSize: 0,55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Non constant AspirationSize function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nhaltsplatzhalter 4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0BD97AFE-7328-4284-0408-3D3C970D34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353" y="2112333"/>
            <a:ext cx="6438685" cy="3828644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1A0350-56C8-0146-4ED9-6B3DD7AA8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9378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49C197E-545D-4BF5-8FB9-7BDA28CB1459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313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E70A66-09B6-B139-0383-E8F4979FCE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de-DE" sz="4800">
                <a:solidFill>
                  <a:srgbClr val="FFFFFF"/>
                </a:solidFill>
              </a:rPr>
              <a:t>Time estimation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CFD9A-23A8-206C-D37A-570CA3E25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de-DE" dirty="0"/>
              <a:t>Task 1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970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119E2-A7E5-107B-98C4-EAD67B65D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Concept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3F02DBF-B54F-A2BF-BE70-4D5E96F453A0}"/>
              </a:ext>
            </a:extLst>
          </p:cNvPr>
          <p:cNvSpPr/>
          <p:nvPr/>
        </p:nvSpPr>
        <p:spPr>
          <a:xfrm>
            <a:off x="2365168" y="2127662"/>
            <a:ext cx="2622466" cy="920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pasttimes</a:t>
            </a:r>
            <a:r>
              <a:rPr lang="de-DE" dirty="0"/>
              <a:t>[]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BAC9E2E-6C54-1BF1-A264-6F4C60AA6449}"/>
              </a:ext>
            </a:extLst>
          </p:cNvPr>
          <p:cNvSpPr/>
          <p:nvPr/>
        </p:nvSpPr>
        <p:spPr>
          <a:xfrm>
            <a:off x="7610102" y="2127662"/>
            <a:ext cx="2622466" cy="9203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 err="1"/>
              <a:t>DeepeningSearch</a:t>
            </a:r>
            <a:r>
              <a:rPr lang="de-DE" dirty="0"/>
              <a:t>(i)</a:t>
            </a:r>
          </a:p>
        </p:txBody>
      </p:sp>
      <p:sp>
        <p:nvSpPr>
          <p:cNvPr id="6" name="Pfeil: nach links 5">
            <a:extLst>
              <a:ext uri="{FF2B5EF4-FFF2-40B4-BE49-F238E27FC236}">
                <a16:creationId xmlns:a16="http://schemas.microsoft.com/office/drawing/2014/main" id="{2299EA62-CDEC-6FB4-5A94-64A5AFCEF98B}"/>
              </a:ext>
            </a:extLst>
          </p:cNvPr>
          <p:cNvSpPr/>
          <p:nvPr/>
        </p:nvSpPr>
        <p:spPr>
          <a:xfrm>
            <a:off x="5531922" y="2325585"/>
            <a:ext cx="1524000" cy="52449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987842-B3B1-1231-F1CF-C94505640535}"/>
              </a:ext>
            </a:extLst>
          </p:cNvPr>
          <p:cNvSpPr/>
          <p:nvPr/>
        </p:nvSpPr>
        <p:spPr>
          <a:xfrm>
            <a:off x="5432958" y="1425037"/>
            <a:ext cx="1721921" cy="6234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Time </a:t>
            </a:r>
            <a:r>
              <a:rPr lang="de-DE" dirty="0" err="1"/>
              <a:t>measurement</a:t>
            </a:r>
            <a:r>
              <a:rPr lang="de-DE" dirty="0"/>
              <a:t> 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62A3EF3-A5D2-9CC9-2B13-2F8E595B1518}"/>
              </a:ext>
            </a:extLst>
          </p:cNvPr>
          <p:cNvSpPr/>
          <p:nvPr/>
        </p:nvSpPr>
        <p:spPr>
          <a:xfrm>
            <a:off x="4987634" y="4948050"/>
            <a:ext cx="2622466" cy="920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Time-</a:t>
            </a:r>
            <a:r>
              <a:rPr lang="de-DE" dirty="0" err="1"/>
              <a:t>estimation</a:t>
            </a:r>
            <a:r>
              <a:rPr lang="de-DE" dirty="0"/>
              <a:t> </a:t>
            </a:r>
            <a:r>
              <a:rPr lang="de-DE" dirty="0" err="1"/>
              <a:t>algorithm</a:t>
            </a:r>
          </a:p>
        </p:txBody>
      </p:sp>
      <p:sp>
        <p:nvSpPr>
          <p:cNvPr id="9" name="Pfeil: nach links 8">
            <a:extLst>
              <a:ext uri="{FF2B5EF4-FFF2-40B4-BE49-F238E27FC236}">
                <a16:creationId xmlns:a16="http://schemas.microsoft.com/office/drawing/2014/main" id="{06244AE7-C894-D57C-3EFD-6040739FD269}"/>
              </a:ext>
            </a:extLst>
          </p:cNvPr>
          <p:cNvSpPr/>
          <p:nvPr/>
        </p:nvSpPr>
        <p:spPr>
          <a:xfrm rot="14880000">
            <a:off x="4007921" y="3800104"/>
            <a:ext cx="1524000" cy="52449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8EC44F8-F323-74DD-5809-C07AE67ADDF8}"/>
              </a:ext>
            </a:extLst>
          </p:cNvPr>
          <p:cNvSpPr/>
          <p:nvPr/>
        </p:nvSpPr>
        <p:spPr>
          <a:xfrm>
            <a:off x="2365166" y="4096985"/>
            <a:ext cx="1721921" cy="6234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Time </a:t>
            </a:r>
            <a:r>
              <a:rPr lang="de-DE" dirty="0" err="1"/>
              <a:t>measurement</a:t>
            </a:r>
          </a:p>
        </p:txBody>
      </p:sp>
      <p:sp>
        <p:nvSpPr>
          <p:cNvPr id="11" name="Pfeil: nach links 10">
            <a:extLst>
              <a:ext uri="{FF2B5EF4-FFF2-40B4-BE49-F238E27FC236}">
                <a16:creationId xmlns:a16="http://schemas.microsoft.com/office/drawing/2014/main" id="{341DACCD-70B6-B4EC-2AB1-7B8564138F64}"/>
              </a:ext>
            </a:extLst>
          </p:cNvPr>
          <p:cNvSpPr/>
          <p:nvPr/>
        </p:nvSpPr>
        <p:spPr>
          <a:xfrm rot="7560000">
            <a:off x="6689765" y="3829791"/>
            <a:ext cx="1524000" cy="524493"/>
          </a:xfrm>
          <a:prstGeom prst="left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63306CB-92D5-3302-BC81-9D3B68DB1E69}"/>
              </a:ext>
            </a:extLst>
          </p:cNvPr>
          <p:cNvSpPr/>
          <p:nvPr/>
        </p:nvSpPr>
        <p:spPr>
          <a:xfrm>
            <a:off x="8065321" y="4096984"/>
            <a:ext cx="1721921" cy="6234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Time </a:t>
            </a:r>
            <a:r>
              <a:rPr lang="de-DE" dirty="0" err="1"/>
              <a:t>estimation</a:t>
            </a:r>
            <a:r>
              <a:rPr lang="de-DE" dirty="0"/>
              <a:t> (i+1)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F91EA9C-453C-EC0C-4B3C-1ABDEDE58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197E-545D-4BF5-8FB9-7BDA28CB1459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756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BCF52-9FC2-15A9-29AB-EDD8D57F0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de-DE" sz="4000"/>
              <a:t>Results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8642173-046F-5C4F-CF6F-F558C1BC0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en-US" sz="2000"/>
              <a:t>First move less accurate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000"/>
              <a:t>Shape very well matched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000"/>
              <a:t>65% Success rate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000"/>
              <a:t>Over/under -estimation tradeoff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fik 2" descr="Ein Bild, das Text, Diagramm, Reihe, parallel enthält.&#10;&#10;KI-generierte Inhalte können fehlerhaft sein.">
            <a:extLst>
              <a:ext uri="{FF2B5EF4-FFF2-40B4-BE49-F238E27FC236}">
                <a16:creationId xmlns:a16="http://schemas.microsoft.com/office/drawing/2014/main" id="{C9FD8E76-42EF-66AA-045C-27D831593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180" y="1611086"/>
            <a:ext cx="7216487" cy="4329891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998F5B5-51FC-0A69-31DA-56D6D3E42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9378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49C197E-545D-4BF5-8FB9-7BDA28CB1459}" type="slidenum">
              <a:rPr lang="de-DE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de-DE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512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7B2626-2A85-C38A-20D9-E0000D411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3E8228-FFA6-B6D0-E7EA-004390378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de-DE" sz="4800">
                <a:solidFill>
                  <a:srgbClr val="FFFFFF"/>
                </a:solidFill>
              </a:rPr>
              <a:t>Heuristics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E63F1C-C00B-C3C2-2F6C-2903361303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0402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3D775E-8502-2C32-473B-C5F9F9DBA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CCBB0-F6C1-A7BE-8DC7-F4443BABA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Total </a:t>
            </a:r>
            <a:r>
              <a:rPr lang="de-DE" dirty="0" err="1"/>
              <a:t>stones</a:t>
            </a:r>
            <a:endParaRPr lang="de-DE" dirty="0"/>
          </a:p>
          <a:p>
            <a:r>
              <a:rPr lang="de-DE" dirty="0"/>
              <a:t>Side </a:t>
            </a:r>
            <a:r>
              <a:rPr lang="de-DE" dirty="0" err="1"/>
              <a:t>stones</a:t>
            </a:r>
            <a:endParaRPr lang="de-DE" dirty="0"/>
          </a:p>
          <a:p>
            <a:r>
              <a:rPr lang="de-DE" dirty="0"/>
              <a:t>Corner </a:t>
            </a:r>
            <a:r>
              <a:rPr lang="de-DE" dirty="0" err="1"/>
              <a:t>stones</a:t>
            </a:r>
            <a:endParaRPr lang="de-DE" dirty="0"/>
          </a:p>
          <a:p>
            <a:r>
              <a:rPr lang="de-DE" dirty="0"/>
              <a:t>"Bonus </a:t>
            </a:r>
            <a:r>
              <a:rPr lang="de-DE" dirty="0" err="1"/>
              <a:t>tiles</a:t>
            </a:r>
            <a:r>
              <a:rPr lang="de-DE" dirty="0"/>
              <a:t>"</a:t>
            </a:r>
          </a:p>
          <a:p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overrides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DF283B5-8F17-0D7D-190F-975A474EF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49C197E-545D-4BF5-8FB9-7BDA28CB1459}" type="slidenum">
              <a:rPr lang="de-DE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de-DE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466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5230B-EC2A-AB7C-630A-0DA61EE67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A83EC-5A08-C6B6-1B48-ADD7EE58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Parameters </a:t>
            </a:r>
            <a:r>
              <a:rPr lang="de-DE" dirty="0" err="1"/>
              <a:t>weighted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907AE-0AF3-81C6-53D5-9A3CD8065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de-DE" dirty="0">
                <a:solidFill>
                  <a:schemeClr val="accent6"/>
                </a:solidFill>
              </a:rPr>
              <a:t>Total </a:t>
            </a:r>
            <a:r>
              <a:rPr lang="de-DE" dirty="0" err="1">
                <a:solidFill>
                  <a:schemeClr val="accent6"/>
                </a:solidFill>
              </a:rPr>
              <a:t>stones</a:t>
            </a:r>
            <a:r>
              <a:rPr lang="de-DE" dirty="0">
                <a:solidFill>
                  <a:schemeClr val="accent6"/>
                </a:solidFill>
              </a:rPr>
              <a:t> </a:t>
            </a:r>
          </a:p>
          <a:p>
            <a:r>
              <a:rPr lang="de-DE" dirty="0">
                <a:solidFill>
                  <a:schemeClr val="accent6"/>
                </a:solidFill>
              </a:rPr>
              <a:t>Side </a:t>
            </a:r>
            <a:r>
              <a:rPr lang="de-DE" dirty="0" err="1">
                <a:solidFill>
                  <a:schemeClr val="accent6"/>
                </a:solidFill>
              </a:rPr>
              <a:t>stones</a:t>
            </a:r>
            <a:endParaRPr lang="de-DE" dirty="0">
              <a:solidFill>
                <a:schemeClr val="accent6"/>
              </a:solidFill>
            </a:endParaRPr>
          </a:p>
          <a:p>
            <a:r>
              <a:rPr lang="de-DE" dirty="0">
                <a:solidFill>
                  <a:schemeClr val="tx2">
                    <a:lumMod val="49000"/>
                    <a:lumOff val="51000"/>
                  </a:schemeClr>
                </a:solidFill>
              </a:rPr>
              <a:t>Corner </a:t>
            </a:r>
            <a:r>
              <a:rPr lang="de-DE" dirty="0" err="1">
                <a:solidFill>
                  <a:schemeClr val="tx2">
                    <a:lumMod val="49000"/>
                    <a:lumOff val="51000"/>
                  </a:schemeClr>
                </a:solidFill>
              </a:rPr>
              <a:t>stones</a:t>
            </a:r>
            <a:endParaRPr lang="de-DE" dirty="0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r>
              <a:rPr lang="de-DE" dirty="0"/>
              <a:t>"</a:t>
            </a:r>
            <a:r>
              <a:rPr lang="de-DE" dirty="0">
                <a:solidFill>
                  <a:srgbClr val="FF0000"/>
                </a:solidFill>
              </a:rPr>
              <a:t>Bonus </a:t>
            </a:r>
            <a:r>
              <a:rPr lang="de-DE" dirty="0" err="1">
                <a:solidFill>
                  <a:srgbClr val="FF0000"/>
                </a:solidFill>
              </a:rPr>
              <a:t>tiles</a:t>
            </a:r>
            <a:r>
              <a:rPr lang="de-DE" dirty="0"/>
              <a:t>"</a:t>
            </a:r>
          </a:p>
          <a:p>
            <a:r>
              <a:rPr lang="de-DE" dirty="0" err="1">
                <a:solidFill>
                  <a:srgbClr val="FF0000"/>
                </a:solidFill>
              </a:rPr>
              <a:t>Number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of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overrides</a:t>
            </a:r>
            <a:endParaRPr lang="de-DE" dirty="0">
              <a:solidFill>
                <a:srgbClr val="FF0000"/>
              </a:solidFill>
            </a:endParaRPr>
          </a:p>
          <a:p>
            <a:endParaRPr lang="de-DE" dirty="0">
              <a:solidFill>
                <a:srgbClr val="FF0000"/>
              </a:solidFill>
            </a:endParaRPr>
          </a:p>
          <a:p>
            <a:endParaRPr lang="de-DE" dirty="0">
              <a:solidFill>
                <a:srgbClr val="FF0000"/>
              </a:solidFill>
            </a:endParaRPr>
          </a:p>
          <a:p>
            <a:endParaRPr lang="de-DE" sz="1000" dirty="0"/>
          </a:p>
          <a:p>
            <a:endParaRPr lang="de-DE" sz="1000" dirty="0"/>
          </a:p>
          <a:p>
            <a:endParaRPr lang="de-DE" sz="10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de-DE" sz="1000" dirty="0">
                <a:solidFill>
                  <a:srgbClr val="000000"/>
                </a:solidFill>
              </a:rPr>
              <a:t>*</a:t>
            </a:r>
            <a:r>
              <a:rPr lang="de-DE" sz="1000" dirty="0" err="1">
                <a:solidFill>
                  <a:srgbClr val="000000"/>
                </a:solidFill>
              </a:rPr>
              <a:t>Weight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referenced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by</a:t>
            </a:r>
            <a:r>
              <a:rPr lang="de-DE" sz="1000" dirty="0">
                <a:solidFill>
                  <a:srgbClr val="000000"/>
                </a:solidFill>
              </a:rPr>
              <a:t> </a:t>
            </a:r>
            <a:r>
              <a:rPr lang="de-DE" sz="1000" dirty="0" err="1">
                <a:solidFill>
                  <a:srgbClr val="000000"/>
                </a:solidFill>
              </a:rPr>
              <a:t>color</a:t>
            </a:r>
            <a:r>
              <a:rPr lang="de-DE" sz="1000" dirty="0">
                <a:solidFill>
                  <a:srgbClr val="000000"/>
                </a:solidFill>
              </a:rPr>
              <a:t>(</a:t>
            </a:r>
            <a:r>
              <a:rPr lang="de-DE" sz="1000" dirty="0" err="1">
                <a:solidFill>
                  <a:srgbClr val="000000"/>
                </a:solidFill>
              </a:rPr>
              <a:t>green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blue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red</a:t>
            </a:r>
            <a:r>
              <a:rPr lang="de-DE" sz="1000" dirty="0">
                <a:solidFill>
                  <a:srgbClr val="000000"/>
                </a:solidFill>
              </a:rPr>
              <a:t>)(</a:t>
            </a:r>
            <a:r>
              <a:rPr lang="de-DE" sz="1000" dirty="0" err="1">
                <a:solidFill>
                  <a:srgbClr val="000000"/>
                </a:solidFill>
              </a:rPr>
              <a:t>low</a:t>
            </a:r>
            <a:r>
              <a:rPr lang="de-DE" sz="1000" dirty="0">
                <a:solidFill>
                  <a:srgbClr val="000000"/>
                </a:solidFill>
              </a:rPr>
              <a:t>, </a:t>
            </a:r>
            <a:r>
              <a:rPr lang="de-DE" sz="1000" dirty="0" err="1">
                <a:solidFill>
                  <a:srgbClr val="000000"/>
                </a:solidFill>
              </a:rPr>
              <a:t>middle</a:t>
            </a:r>
            <a:r>
              <a:rPr lang="de-DE" sz="1000" dirty="0">
                <a:solidFill>
                  <a:srgbClr val="000000"/>
                </a:solidFill>
              </a:rPr>
              <a:t>, high)</a:t>
            </a:r>
          </a:p>
          <a:p>
            <a:endParaRPr lang="de-DE" dirty="0">
              <a:solidFill>
                <a:srgbClr val="FF0000"/>
              </a:solidFill>
            </a:endParaRPr>
          </a:p>
          <a:p>
            <a:endParaRPr lang="de-DE" dirty="0">
              <a:solidFill>
                <a:srgbClr val="FF0000"/>
              </a:solidFill>
            </a:endParaRPr>
          </a:p>
          <a:p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F575932-EA16-C3C9-3E8B-31AE7D698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197E-545D-4BF5-8FB9-7BDA28CB1459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36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116E-A0AD-2E98-5FE0-45B5C5473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Stockpiling</a:t>
            </a:r>
            <a:r>
              <a:rPr lang="de-DE" dirty="0"/>
              <a:t> </a:t>
            </a:r>
            <a:r>
              <a:rPr lang="de-DE" dirty="0" err="1"/>
              <a:t>overrides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72F19-B153-C445-D15B-5622F2FDD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4617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dirty="0" err="1"/>
              <a:t>Four</a:t>
            </a:r>
            <a:r>
              <a:rPr lang="de-DE" dirty="0"/>
              <a:t> </a:t>
            </a:r>
            <a:r>
              <a:rPr lang="de-DE" dirty="0" err="1"/>
              <a:t>player</a:t>
            </a:r>
            <a:r>
              <a:rPr lang="de-DE" dirty="0"/>
              <a:t> </a:t>
            </a:r>
            <a:r>
              <a:rPr lang="de-DE" dirty="0" err="1"/>
              <a:t>map</a:t>
            </a:r>
            <a:r>
              <a:rPr lang="de-DE" dirty="0"/>
              <a:t>(14x14)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4" name="Grafik 3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1202E89D-A245-F9FE-7EFA-3E98CFD10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2336800"/>
            <a:ext cx="5086350" cy="4089401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C892CDFC-325D-3B36-624B-19FBBDD3E8B7}"/>
              </a:ext>
            </a:extLst>
          </p:cNvPr>
          <p:cNvSpPr txBox="1"/>
          <p:nvPr/>
        </p:nvSpPr>
        <p:spPr>
          <a:xfrm>
            <a:off x="5680364" y="2127662"/>
            <a:ext cx="61751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-&gt; game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before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happens</a:t>
            </a:r>
            <a:r>
              <a:rPr lang="de-DE" dirty="0"/>
              <a:t> loses </a:t>
            </a:r>
            <a:r>
              <a:rPr lang="de-DE" dirty="0" err="1"/>
              <a:t>significance</a:t>
            </a:r>
            <a:r>
              <a:rPr lang="de-DE" dirty="0"/>
              <a:t>.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5B1CC3E-39E9-D58F-D7D5-40E75F8C2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197E-545D-4BF5-8FB9-7BDA28CB1459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0895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B20AA1-AC6E-0717-7CEC-BBDF40288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Inversions/ swaps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A86CC-3DC0-4E47-3C79-B2E31F67B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z="3200" dirty="0"/>
              <a:t>Relative </a:t>
            </a:r>
            <a:r>
              <a:rPr lang="de-DE" sz="3200" dirty="0" err="1"/>
              <a:t>player</a:t>
            </a:r>
            <a:r>
              <a:rPr lang="de-DE" sz="3200" dirty="0"/>
              <a:t> </a:t>
            </a:r>
            <a:r>
              <a:rPr lang="de-DE" sz="3200" dirty="0" err="1"/>
              <a:t>number</a:t>
            </a:r>
            <a:endParaRPr lang="de-DE" sz="320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5A2A07-6E13-DE07-6F7A-3CF71E3E1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49C197E-545D-4BF5-8FB9-7BDA28CB1459}" type="slidenum">
              <a:rPr lang="de-DE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de-DE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78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50B99-238D-5E9D-6B5A-0C8C364C6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</a:p>
        </p:txBody>
      </p:sp>
      <p:pic>
        <p:nvPicPr>
          <p:cNvPr id="4" name="Content Placeholder 3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74858C5D-EEFE-6AEB-B821-E4C09C394B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566" y="2436926"/>
            <a:ext cx="4385582" cy="2548164"/>
          </a:xfrm>
        </p:spPr>
      </p:pic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22DBA4C4-2B78-BD81-CF6A-6AB77068E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736" y="2525260"/>
            <a:ext cx="4392385" cy="2451553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F54F334A-2579-7DAD-A14B-BDF1AFC12A57}"/>
              </a:ext>
            </a:extLst>
          </p:cNvPr>
          <p:cNvSpPr txBox="1"/>
          <p:nvPr/>
        </p:nvSpPr>
        <p:spPr>
          <a:xfrm>
            <a:off x="534389" y="1761506"/>
            <a:ext cx="414646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 err="1"/>
              <a:t>Results</a:t>
            </a:r>
            <a:r>
              <a:rPr lang="de-DE" dirty="0"/>
              <a:t> </a:t>
            </a:r>
            <a:r>
              <a:rPr lang="de-DE" dirty="0" err="1"/>
              <a:t>pre</a:t>
            </a:r>
            <a:r>
              <a:rPr lang="de-DE" dirty="0"/>
              <a:t> </a:t>
            </a:r>
            <a:r>
              <a:rPr lang="de-DE" dirty="0" err="1"/>
              <a:t>improvement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6CFF3F3-041A-00A5-2E72-C61E24D4407C}"/>
              </a:ext>
            </a:extLst>
          </p:cNvPr>
          <p:cNvSpPr txBox="1"/>
          <p:nvPr/>
        </p:nvSpPr>
        <p:spPr>
          <a:xfrm>
            <a:off x="6174344" y="1767279"/>
            <a:ext cx="4275116" cy="3661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err="1"/>
              <a:t>Results</a:t>
            </a:r>
            <a:r>
              <a:rPr lang="de-DE" dirty="0"/>
              <a:t> after </a:t>
            </a:r>
            <a:r>
              <a:rPr lang="de-DE" err="1"/>
              <a:t>improvement</a:t>
            </a:r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3442FAB-3A6D-5F44-6052-7E16536C46B3}"/>
              </a:ext>
            </a:extLst>
          </p:cNvPr>
          <p:cNvSpPr txBox="1"/>
          <p:nvPr/>
        </p:nvSpPr>
        <p:spPr>
          <a:xfrm>
            <a:off x="1573480" y="5522026"/>
            <a:ext cx="820387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-&gt; </a:t>
            </a:r>
            <a:r>
              <a:rPr lang="de-DE" dirty="0" err="1"/>
              <a:t>results</a:t>
            </a:r>
            <a:r>
              <a:rPr lang="de-DE" dirty="0"/>
              <a:t> </a:t>
            </a:r>
            <a:r>
              <a:rPr lang="de-DE" dirty="0" err="1"/>
              <a:t>especially</a:t>
            </a:r>
            <a:r>
              <a:rPr lang="de-DE" dirty="0"/>
              <a:t> in </a:t>
            </a:r>
            <a:r>
              <a:rPr lang="de-DE" dirty="0" err="1"/>
              <a:t>games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higher</a:t>
            </a:r>
            <a:r>
              <a:rPr lang="de-DE" dirty="0"/>
              <a:t> </a:t>
            </a:r>
            <a:r>
              <a:rPr lang="de-DE" dirty="0" err="1"/>
              <a:t>numbers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players</a:t>
            </a:r>
            <a:r>
              <a:rPr lang="de-DE" dirty="0"/>
              <a:t> </a:t>
            </a:r>
            <a:r>
              <a:rPr lang="de-DE" dirty="0" err="1"/>
              <a:t>improved</a:t>
            </a:r>
            <a:r>
              <a:rPr lang="de-DE" dirty="0"/>
              <a:t> </a:t>
            </a:r>
            <a:r>
              <a:rPr lang="de-DE" dirty="0" err="1"/>
              <a:t>significantly</a:t>
            </a:r>
            <a:r>
              <a:rPr lang="de-DE" dirty="0"/>
              <a:t>.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732829-E628-C505-4C95-93D5D9FC5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197E-545D-4BF5-8FB9-7BDA28CB1459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99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</Words>
  <Application>Microsoft Office PowerPoint</Application>
  <PresentationFormat>Breitbild</PresentationFormat>
  <Paragraphs>75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Cambria Math</vt:lpstr>
      <vt:lpstr>Office</vt:lpstr>
      <vt:lpstr>Assignment 5</vt:lpstr>
      <vt:lpstr>Aspiration Windows implementation</vt:lpstr>
      <vt:lpstr>Test results on differently sized maps</vt:lpstr>
      <vt:lpstr>Planned improvements</vt:lpstr>
      <vt:lpstr>Time estimation</vt:lpstr>
      <vt:lpstr>Concept</vt:lpstr>
      <vt:lpstr>Results</vt:lpstr>
      <vt:lpstr>Heuristics</vt:lpstr>
      <vt:lpstr>parameters</vt:lpstr>
      <vt:lpstr>Parameters weighted</vt:lpstr>
      <vt:lpstr>Stockpiling overrides</vt:lpstr>
      <vt:lpstr>Inversions/ swaps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Frithjof Alms</dc:creator>
  <cp:lastModifiedBy>Frithjof Alms</cp:lastModifiedBy>
  <cp:revision>199</cp:revision>
  <dcterms:created xsi:type="dcterms:W3CDTF">2025-06-12T09:55:49Z</dcterms:created>
  <dcterms:modified xsi:type="dcterms:W3CDTF">2025-06-23T06:47:13Z</dcterms:modified>
</cp:coreProperties>
</file>